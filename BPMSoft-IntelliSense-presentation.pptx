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s/slide3.xml" ContentType="application/vnd.openxmlformats-officedocument.presentationml.slide+xml"/>
  <Override PartName="/ppt/slides/slide11.xml" ContentType="application/vnd.openxmlformats-officedocument.presentationml.slide+xml"/>
  <Override PartName="/ppt/slides/slide4.xml" ContentType="application/vnd.openxmlformats-officedocument.presentationml.slide+xml"/>
  <Override PartName="/ppt/slides/slide2.xml" ContentType="application/vnd.openxmlformats-officedocument.presentationml.slide+xml"/>
  <Override PartName="/ppt/slides/slide6.xml" ContentType="application/vnd.openxmlformats-officedocument.presentationml.slide+xml"/>
  <Override PartName="/ppt/slides/slide1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5.xml" ContentType="application/vnd.openxmlformats-officedocument.presentationml.slide+xml"/>
  <Override PartName="/ppt/slides/slide8.xml" ContentType="application/vnd.openxmlformats-officedocument.presentationml.slide+xml"/>
  <Override PartName="/ppt/slides/slide13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81BE7C6D-EB20-45A7-8220-5CC83A4C21FE}" type="slidenum"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7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Расширение для VS Code и Cursor, которое даёт полноценную поддержку IDE при разработке конфигурации BPMSoft.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544D4C9-1CB1-46DE-8B09-06D97BACDE0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7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Четыре боли, из-за которых расширение появилось. Все они — следствие того, что схема BPMSoft не существует как единый файл.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E715F1D-3862-498C-AD45-25AA4499269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7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Ключевая идея: не стабы и не словари, а честная модель иерархии схем — та же, что строит ViewModelGeneratorV2 платформы.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9D5618A-BFC1-4B83-9F12-E6A6FDC3349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7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Пайплайн: файловые источники → единый индекс → пять стандартных провайдеров VS Code.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3DAB3DF-B200-4A41-AE79-30189308938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8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Главная фича. Триггеры: точка, $, кавычки, скобка и обычный ввод идентификатора.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D127FCF-11C4-4E3A-8F3F-73CCB216385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8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Навигация понимает иерархию пакетов — то, чего нет ни у одного стандартного инструмента.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FA6A91A-1E0F-46EA-BA89-8C0D89F6015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8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Динамика (this.get(name), this[expr]) не помечается — ложных срабатываний нет.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FC8BE12-77AF-4982-8908-F31C846F953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9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Свежая фича: полноценная поддержка серверных запросов ESQ, включая цепочки через lookup-колонки.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22FB408-8CD2-4C4B-A72A-D1B2B3D7A95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9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Правила знают о платформе: override родительских членов не считается неиспользуемым кодом.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99AC0DD-12E6-467C-9D23-7EBDA4C611B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9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C#-часть закрывает главный барьер: IntelliSense по серверному коду начинает работать без ручного создания solution.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40C0D41-6FD9-4520-A043-44838E67405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0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Философия: нулевая конфигурация. Флаги нужны только чтобы что-то выключить.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A6F4102-CEB2-47FF-BAA3-D26B1283200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0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Порог входа минимальный и для пользователей, и для тех, кто захочет дописать правило или подсказку.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03D0F4F-AD63-41AE-8445-6E97EA22F82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0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Финальный слайд: четыре выгоды для команды. Дальше — вопросы и живое демо.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8501919-3794-4274-BD49-EEDD6B23BBD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ru-RU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ru-RU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0"/>
          <p:cNvSpPr/>
          <p:nvPr/>
        </p:nvSpPr>
        <p:spPr>
          <a:xfrm>
            <a:off x="8595360" y="-2011680"/>
            <a:ext cx="5943240" cy="5943240"/>
          </a:xfrm>
          <a:prstGeom prst="ellipse">
            <a:avLst/>
          </a:prstGeom>
          <a:solidFill>
            <a:srgbClr val="CADCFC">
              <a:alpha val="12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Shape 1"/>
          <p:cNvSpPr/>
          <p:nvPr/>
        </p:nvSpPr>
        <p:spPr>
          <a:xfrm>
            <a:off x="10149840" y="4206240"/>
            <a:ext cx="4023000" cy="4023000"/>
          </a:xfrm>
          <a:prstGeom prst="ellipse">
            <a:avLst/>
          </a:prstGeom>
          <a:solidFill>
            <a:srgbClr val="CADCFC">
              <a:alpha val="8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Text 2"/>
          <p:cNvSpPr/>
          <p:nvPr/>
        </p:nvSpPr>
        <p:spPr>
          <a:xfrm>
            <a:off x="822960" y="1828800"/>
            <a:ext cx="10515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pc="300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РАСШИРЕНИЕ ДЛЯ VS CODE / CURSOR</a:t>
            </a:r>
            <a:endParaRPr lang="ru-RU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" name="Text 3"/>
          <p:cNvSpPr/>
          <p:nvPr/>
        </p:nvSpPr>
        <p:spPr>
          <a:xfrm>
            <a:off x="822960" y="2194560"/>
            <a:ext cx="1051524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4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BPMSoft IntelliSense</a:t>
            </a:r>
            <a:endParaRPr lang="ru-RU" sz="5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" name="Text 4"/>
          <p:cNvSpPr/>
          <p:nvPr/>
        </p:nvSpPr>
        <p:spPr>
          <a:xfrm>
            <a:off x="822960" y="3383280"/>
            <a:ext cx="960084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Автодополнение, навигация, диагностика и контроль стиля</a:t>
            </a:r>
            <a:endParaRPr lang="ru-RU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для разработки на платформе BPMSoft</a:t>
            </a:r>
            <a:endParaRPr lang="ru-RU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Text 5"/>
          <p:cNvSpPr/>
          <p:nvPr/>
        </p:nvSpPr>
        <p:spPr>
          <a:xfrm>
            <a:off x="822960" y="5212080"/>
            <a:ext cx="9600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9FB4E0"/>
                </a:solidFill>
                <a:effectLst/>
                <a:uFillTx/>
                <a:latin typeface="Calibri"/>
                <a:ea typeface="Calibri"/>
              </a:rPr>
              <a:t>Версия 1.2.1   •   Август 2026   •   JavaScript (AMD-схемы) + C#</a:t>
            </a:r>
            <a:endParaRPr lang="ru-RU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0"/>
          <p:cNvSpPr/>
          <p:nvPr/>
        </p:nvSpPr>
        <p:spPr>
          <a:xfrm>
            <a:off x="548640" y="347400"/>
            <a:ext cx="110638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300" strike="noStrike">
                <a:solidFill>
                  <a:srgbClr val="6E7BB5"/>
                </a:solidFill>
                <a:effectLst/>
                <a:uFillTx/>
                <a:latin typeface="Calibri"/>
                <a:ea typeface="Calibri"/>
              </a:rPr>
              <a:t>ЗАЧЕМ СОЗДАВАЛОСЬ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Text 1"/>
          <p:cNvSpPr/>
          <p:nvPr/>
        </p:nvSpPr>
        <p:spPr>
          <a:xfrm>
            <a:off x="548640" y="621720"/>
            <a:ext cx="1106388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900" b="1" u="none" strike="noStrike">
                <a:solidFill>
                  <a:srgbClr val="1E2761"/>
                </a:solidFill>
                <a:effectLst/>
                <a:uFillTx/>
                <a:latin typeface="Cambria"/>
                <a:ea typeface="Cambria"/>
              </a:rPr>
              <a:t>Разработка BPMSoft в VS Code — без поддержки IDE</a:t>
            </a:r>
            <a:endParaRPr lang="ru-RU" sz="2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Text 2"/>
          <p:cNvSpPr/>
          <p:nvPr/>
        </p:nvSpPr>
        <p:spPr>
          <a:xfrm>
            <a:off x="1138428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A6472"/>
                </a:solidFill>
                <a:effectLst/>
                <a:uFillTx/>
                <a:latin typeface="Calibri"/>
                <a:ea typeface="Calibri"/>
              </a:rPr>
              <a:t>2</a:t>
            </a:r>
            <a:endParaRPr lang="ru-RU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Shape 3"/>
          <p:cNvSpPr/>
          <p:nvPr/>
        </p:nvSpPr>
        <p:spPr>
          <a:xfrm>
            <a:off x="548640" y="1463040"/>
            <a:ext cx="5403600" cy="2194200"/>
          </a:xfrm>
          <a:prstGeom prst="roundRect">
            <a:avLst>
              <a:gd name="adj" fmla="val 3333"/>
            </a:avLst>
          </a:prstGeom>
          <a:solidFill>
            <a:srgbClr val="EEF3FB"/>
          </a:solidFill>
          <a:ln w="12700">
            <a:solidFill>
              <a:srgbClr val="D5DE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Shape 4"/>
          <p:cNvSpPr/>
          <p:nvPr/>
        </p:nvSpPr>
        <p:spPr>
          <a:xfrm>
            <a:off x="804600" y="1700640"/>
            <a:ext cx="402120" cy="402120"/>
          </a:xfrm>
          <a:prstGeom prst="ellipse">
            <a:avLst/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" name="Text 5"/>
          <p:cNvSpPr/>
          <p:nvPr/>
        </p:nvSpPr>
        <p:spPr>
          <a:xfrm>
            <a:off x="804600" y="1700640"/>
            <a:ext cx="40212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Text 6"/>
          <p:cNvSpPr/>
          <p:nvPr/>
        </p:nvSpPr>
        <p:spPr>
          <a:xfrm>
            <a:off x="1353240" y="1664280"/>
            <a:ext cx="43520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Нет автодополнения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Text 7"/>
          <p:cNvSpPr/>
          <p:nvPr/>
        </p:nvSpPr>
        <p:spPr>
          <a:xfrm>
            <a:off x="822960" y="2249280"/>
            <a:ext cx="485496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26262E"/>
                </a:solidFill>
                <a:effectLst/>
                <a:uFillTx/>
                <a:latin typeface="Calibri"/>
                <a:ea typeface="Calibri"/>
              </a:rPr>
              <a:t>Схема собирается из иерархии пакетов только в рантайме: редактор ничего не знает про this.*, атрибуты, сообщения sandbox и колонки объектов. Каждое имя приходится вспоминать или искать вручную.</a:t>
            </a:r>
            <a:endParaRPr lang="ru-RU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Shape 8"/>
          <p:cNvSpPr/>
          <p:nvPr/>
        </p:nvSpPr>
        <p:spPr>
          <a:xfrm>
            <a:off x="6236280" y="1463040"/>
            <a:ext cx="5403600" cy="2194200"/>
          </a:xfrm>
          <a:prstGeom prst="roundRect">
            <a:avLst>
              <a:gd name="adj" fmla="val 3333"/>
            </a:avLst>
          </a:prstGeom>
          <a:solidFill>
            <a:srgbClr val="EEF3FB"/>
          </a:solidFill>
          <a:ln w="12700">
            <a:solidFill>
              <a:srgbClr val="D5DE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Shape 9"/>
          <p:cNvSpPr/>
          <p:nvPr/>
        </p:nvSpPr>
        <p:spPr>
          <a:xfrm>
            <a:off x="6492240" y="1700640"/>
            <a:ext cx="402120" cy="402120"/>
          </a:xfrm>
          <a:prstGeom prst="ellipse">
            <a:avLst/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" name="Text 10"/>
          <p:cNvSpPr/>
          <p:nvPr/>
        </p:nvSpPr>
        <p:spPr>
          <a:xfrm>
            <a:off x="6492240" y="1700640"/>
            <a:ext cx="40212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2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Text 11"/>
          <p:cNvSpPr/>
          <p:nvPr/>
        </p:nvSpPr>
        <p:spPr>
          <a:xfrm>
            <a:off x="7040880" y="1664280"/>
            <a:ext cx="43520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Нет навигации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Text 12"/>
          <p:cNvSpPr/>
          <p:nvPr/>
        </p:nvSpPr>
        <p:spPr>
          <a:xfrm>
            <a:off x="6510600" y="2249280"/>
            <a:ext cx="485496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26262E"/>
                </a:solidFill>
                <a:effectLst/>
                <a:uFillTx/>
                <a:latin typeface="Calibri"/>
                <a:ea typeface="Calibri"/>
              </a:rPr>
              <a:t>Метод может быть объявлен в родительской схеме, миксине или другом пакете. Стандартный F12 не работает — остаётся только поиск по всем файлам проекта.</a:t>
            </a:r>
            <a:endParaRPr lang="ru-RU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Shape 13"/>
          <p:cNvSpPr/>
          <p:nvPr/>
        </p:nvSpPr>
        <p:spPr>
          <a:xfrm>
            <a:off x="548640" y="3931920"/>
            <a:ext cx="5403600" cy="2194200"/>
          </a:xfrm>
          <a:prstGeom prst="roundRect">
            <a:avLst>
              <a:gd name="adj" fmla="val 3333"/>
            </a:avLst>
          </a:prstGeom>
          <a:solidFill>
            <a:srgbClr val="EEF3FB"/>
          </a:solidFill>
          <a:ln w="12700">
            <a:solidFill>
              <a:srgbClr val="D5DE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Shape 14"/>
          <p:cNvSpPr/>
          <p:nvPr/>
        </p:nvSpPr>
        <p:spPr>
          <a:xfrm>
            <a:off x="804600" y="4169520"/>
            <a:ext cx="402120" cy="402120"/>
          </a:xfrm>
          <a:prstGeom prst="ellipse">
            <a:avLst/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" name="Text 15"/>
          <p:cNvSpPr/>
          <p:nvPr/>
        </p:nvSpPr>
        <p:spPr>
          <a:xfrm>
            <a:off x="804600" y="4169520"/>
            <a:ext cx="40212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3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Text 16"/>
          <p:cNvSpPr/>
          <p:nvPr/>
        </p:nvSpPr>
        <p:spPr>
          <a:xfrm>
            <a:off x="1353240" y="4133160"/>
            <a:ext cx="43520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Ошибки видны поздно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Text 17"/>
          <p:cNvSpPr/>
          <p:nvPr/>
        </p:nvSpPr>
        <p:spPr>
          <a:xfrm>
            <a:off x="822960" y="4718160"/>
            <a:ext cx="485496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26262E"/>
                </a:solidFill>
                <a:effectLst/>
                <a:uFillTx/>
                <a:latin typeface="Calibri"/>
                <a:ea typeface="Calibri"/>
              </a:rPr>
              <a:t>Опечатка в имени метода, атрибута, сообщения или колонки ESQ обнаруживается только в браузере, в рантайме — цикл «поправил → пересобрал → проверил» занимает минуты.</a:t>
            </a:r>
            <a:endParaRPr lang="ru-RU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Shape 18"/>
          <p:cNvSpPr/>
          <p:nvPr/>
        </p:nvSpPr>
        <p:spPr>
          <a:xfrm>
            <a:off x="6236280" y="3931920"/>
            <a:ext cx="5403600" cy="2194200"/>
          </a:xfrm>
          <a:prstGeom prst="roundRect">
            <a:avLst>
              <a:gd name="adj" fmla="val 3333"/>
            </a:avLst>
          </a:prstGeom>
          <a:solidFill>
            <a:srgbClr val="EEF3FB"/>
          </a:solidFill>
          <a:ln w="12700">
            <a:solidFill>
              <a:srgbClr val="D5DE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Shape 19"/>
          <p:cNvSpPr/>
          <p:nvPr/>
        </p:nvSpPr>
        <p:spPr>
          <a:xfrm>
            <a:off x="6492240" y="4169520"/>
            <a:ext cx="402120" cy="402120"/>
          </a:xfrm>
          <a:prstGeom prst="ellipse">
            <a:avLst/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" name="Text 20"/>
          <p:cNvSpPr/>
          <p:nvPr/>
        </p:nvSpPr>
        <p:spPr>
          <a:xfrm>
            <a:off x="6492240" y="4169520"/>
            <a:ext cx="40212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4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Text 21"/>
          <p:cNvSpPr/>
          <p:nvPr/>
        </p:nvSpPr>
        <p:spPr>
          <a:xfrm>
            <a:off x="7040880" y="4133160"/>
            <a:ext cx="43520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Разный стиль кода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Text 22"/>
          <p:cNvSpPr/>
          <p:nvPr/>
        </p:nvSpPr>
        <p:spPr>
          <a:xfrm>
            <a:off x="6510600" y="4718160"/>
            <a:ext cx="485496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26262E"/>
                </a:solidFill>
                <a:effectLst/>
                <a:uFillTx/>
                <a:latin typeface="Calibri"/>
                <a:ea typeface="Calibri"/>
              </a:rPr>
              <a:t>Скобки, var/const, именование — у каждого разработчика свои привычки. Ревью тратится на мелочи вместо логики, кодовая база расползается.</a:t>
            </a:r>
            <a:endParaRPr lang="ru-RU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 0"/>
          <p:cNvSpPr/>
          <p:nvPr/>
        </p:nvSpPr>
        <p:spPr>
          <a:xfrm>
            <a:off x="548640" y="347400"/>
            <a:ext cx="110638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300" strike="noStrike">
                <a:solidFill>
                  <a:srgbClr val="6E7BB5"/>
                </a:solidFill>
                <a:effectLst/>
                <a:uFillTx/>
                <a:latin typeface="Calibri"/>
                <a:ea typeface="Calibri"/>
              </a:rPr>
              <a:t>РЕШЕНИЕ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Text 1"/>
          <p:cNvSpPr/>
          <p:nvPr/>
        </p:nvSpPr>
        <p:spPr>
          <a:xfrm>
            <a:off x="548640" y="621720"/>
            <a:ext cx="1106388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900" b="1" u="none" strike="noStrike">
                <a:solidFill>
                  <a:srgbClr val="1E2761"/>
                </a:solidFill>
                <a:effectLst/>
                <a:uFillTx/>
                <a:latin typeface="Cambria"/>
                <a:ea typeface="Cambria"/>
              </a:rPr>
              <a:t>IDE-поддержка поверх реальной структуры проекта</a:t>
            </a:r>
            <a:endParaRPr lang="ru-RU" sz="2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Text 2"/>
          <p:cNvSpPr/>
          <p:nvPr/>
        </p:nvSpPr>
        <p:spPr>
          <a:xfrm>
            <a:off x="1138428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A6472"/>
                </a:solidFill>
                <a:effectLst/>
                <a:uFillTx/>
                <a:latin typeface="Calibri"/>
                <a:ea typeface="Calibri"/>
              </a:rPr>
              <a:t>3</a:t>
            </a:r>
            <a:endParaRPr lang="ru-RU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Text 3"/>
          <p:cNvSpPr/>
          <p:nvPr/>
        </p:nvSpPr>
        <p:spPr>
          <a:xfrm>
            <a:off x="548640" y="1508760"/>
            <a:ext cx="53946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26262E"/>
                </a:solidFill>
                <a:effectLst/>
                <a:uFillTx/>
                <a:latin typeface="Calibri"/>
                <a:ea typeface="Calibri"/>
              </a:rPr>
              <a:t>Расширение строит ту же иерархию схем, что и платформа в рантайме:</a:t>
            </a:r>
            <a:endParaRPr lang="ru-RU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Text 4"/>
          <p:cNvSpPr/>
          <p:nvPr/>
        </p:nvSpPr>
        <p:spPr>
          <a:xfrm>
            <a:off x="594360" y="2103120"/>
            <a:ext cx="5348880" cy="23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26262E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26262E"/>
                </a:solidFill>
                <a:effectLst/>
                <a:uFillTx/>
                <a:latin typeface="Calibri"/>
                <a:ea typeface="Calibri"/>
              </a:rPr>
              <a:t>стек innerHierarchyStack из conf/content и structureParent — рекурсивно</a:t>
            </a:r>
            <a:endParaRPr lang="ru-RU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26262E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26262E"/>
                </a:solidFill>
                <a:effectLst/>
                <a:uFillTx/>
                <a:latin typeface="Calibri"/>
                <a:ea typeface="Calibri"/>
              </a:rPr>
              <a:t>descriptor.json — когда схемы ещё нет в conf</a:t>
            </a:r>
            <a:endParaRPr lang="ru-RU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26262E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26262E"/>
                </a:solidFill>
                <a:effectLst/>
                <a:uFillTx/>
                <a:latin typeface="Calibri"/>
                <a:ea typeface="Calibri"/>
              </a:rPr>
              <a:t>миксины всех слоёв иерархии</a:t>
            </a:r>
            <a:endParaRPr lang="ru-RU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26262E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26262E"/>
                </a:solidFill>
                <a:effectLst/>
                <a:uFillTx/>
                <a:latin typeface="Calibri"/>
                <a:ea typeface="Calibri"/>
              </a:rPr>
              <a:t>колонки entity из conf, metadata.json и resource.xml</a:t>
            </a:r>
            <a:endParaRPr lang="ru-RU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26262E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26262E"/>
                </a:solidFill>
                <a:effectLst/>
                <a:uFillTx/>
                <a:latin typeface="Calibri"/>
                <a:ea typeface="Calibri"/>
              </a:rPr>
              <a:t>цепочки override / extend платформенных Ext-классов</a:t>
            </a:r>
            <a:endParaRPr lang="ru-RU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Text 5"/>
          <p:cNvSpPr/>
          <p:nvPr/>
        </p:nvSpPr>
        <p:spPr>
          <a:xfrm>
            <a:off x="548640" y="4709160"/>
            <a:ext cx="5394600" cy="12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i="1" u="none" strike="noStrike">
                <a:solidFill>
                  <a:srgbClr val="5A6472"/>
                </a:solidFill>
                <a:effectLst/>
                <a:uFillTx/>
                <a:latin typeface="Calibri"/>
                <a:ea typeface="Calibri"/>
              </a:rPr>
              <a:t>Поверх этой модели работают стандартные механизмы VS Code — подсказки и диагностика появляются в обычном редакторе, без отдельных инструментов и генерации d.ts.</a:t>
            </a:r>
            <a:endParaRPr lang="ru-RU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Shape 6"/>
          <p:cNvSpPr/>
          <p:nvPr/>
        </p:nvSpPr>
        <p:spPr>
          <a:xfrm>
            <a:off x="6263640" y="1463040"/>
            <a:ext cx="2568960" cy="2239920"/>
          </a:xfrm>
          <a:prstGeom prst="roundRect">
            <a:avLst>
              <a:gd name="adj" fmla="val 3265"/>
            </a:avLst>
          </a:prstGeom>
          <a:solidFill>
            <a:srgbClr val="EEF3FB"/>
          </a:solidFill>
          <a:ln w="12700">
            <a:solidFill>
              <a:srgbClr val="D5DE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Text 7"/>
          <p:cNvSpPr/>
          <p:nvPr/>
        </p:nvSpPr>
        <p:spPr>
          <a:xfrm>
            <a:off x="6492240" y="1691640"/>
            <a:ext cx="211176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trike="noStrike">
                <a:solidFill>
                  <a:srgbClr val="1E2761"/>
                </a:solidFill>
                <a:effectLst/>
                <a:uFillTx/>
                <a:latin typeface="Cambria"/>
                <a:ea typeface="Cambria"/>
              </a:rPr>
              <a:t>5</a:t>
            </a:r>
            <a:endParaRPr lang="ru-RU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Text 8"/>
          <p:cNvSpPr/>
          <p:nvPr/>
        </p:nvSpPr>
        <p:spPr>
          <a:xfrm>
            <a:off x="6492240" y="2514600"/>
            <a:ext cx="2111760" cy="95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5A6472"/>
                </a:solidFill>
                <a:effectLst/>
                <a:uFillTx/>
                <a:latin typeface="Calibri"/>
                <a:ea typeface="Calibri"/>
              </a:rPr>
              <a:t>провайдеров VS Code: подсказки, переход, hover, диагностика, quick fix</a:t>
            </a:r>
            <a:endParaRPr lang="ru-RU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Shape 9"/>
          <p:cNvSpPr/>
          <p:nvPr/>
        </p:nvSpPr>
        <p:spPr>
          <a:xfrm>
            <a:off x="9070920" y="1463040"/>
            <a:ext cx="2568960" cy="2239920"/>
          </a:xfrm>
          <a:prstGeom prst="roundRect">
            <a:avLst>
              <a:gd name="adj" fmla="val 3265"/>
            </a:avLst>
          </a:prstGeom>
          <a:solidFill>
            <a:srgbClr val="EEF3FB"/>
          </a:solidFill>
          <a:ln w="12700">
            <a:solidFill>
              <a:srgbClr val="D5DE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Text 10"/>
          <p:cNvSpPr/>
          <p:nvPr/>
        </p:nvSpPr>
        <p:spPr>
          <a:xfrm>
            <a:off x="9299520" y="1691640"/>
            <a:ext cx="211176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trike="noStrike">
                <a:solidFill>
                  <a:srgbClr val="1E2761"/>
                </a:solidFill>
                <a:effectLst/>
                <a:uFillTx/>
                <a:latin typeface="Cambria"/>
                <a:ea typeface="Cambria"/>
              </a:rPr>
              <a:t>2</a:t>
            </a:r>
            <a:endParaRPr lang="ru-RU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Text 11"/>
          <p:cNvSpPr/>
          <p:nvPr/>
        </p:nvSpPr>
        <p:spPr>
          <a:xfrm>
            <a:off x="9299520" y="2514600"/>
            <a:ext cx="2111760" cy="95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5A6472"/>
                </a:solidFill>
                <a:effectLst/>
                <a:uFillTx/>
                <a:latin typeface="Calibri"/>
                <a:ea typeface="Calibri"/>
              </a:rPr>
              <a:t>языка: JavaScript (AMD-схемы) и C# (исходники пакетов)</a:t>
            </a:r>
            <a:endParaRPr lang="ru-RU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Shape 12"/>
          <p:cNvSpPr/>
          <p:nvPr/>
        </p:nvSpPr>
        <p:spPr>
          <a:xfrm>
            <a:off x="6263640" y="3977640"/>
            <a:ext cx="2568960" cy="2239920"/>
          </a:xfrm>
          <a:prstGeom prst="roundRect">
            <a:avLst>
              <a:gd name="adj" fmla="val 3265"/>
            </a:avLst>
          </a:prstGeom>
          <a:solidFill>
            <a:srgbClr val="EEF3FB"/>
          </a:solidFill>
          <a:ln w="12700">
            <a:solidFill>
              <a:srgbClr val="D5DE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Text 13"/>
          <p:cNvSpPr/>
          <p:nvPr/>
        </p:nvSpPr>
        <p:spPr>
          <a:xfrm>
            <a:off x="6492240" y="4206240"/>
            <a:ext cx="211176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trike="noStrike">
                <a:solidFill>
                  <a:srgbClr val="1E2761"/>
                </a:solidFill>
                <a:effectLst/>
                <a:uFillTx/>
                <a:latin typeface="Cambria"/>
                <a:ea typeface="Cambria"/>
              </a:rPr>
              <a:t>20+</a:t>
            </a:r>
            <a:endParaRPr lang="ru-RU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Text 14"/>
          <p:cNvSpPr/>
          <p:nvPr/>
        </p:nvSpPr>
        <p:spPr>
          <a:xfrm>
            <a:off x="6492240" y="5029200"/>
            <a:ext cx="2111760" cy="95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5A6472"/>
                </a:solidFill>
                <a:effectLst/>
                <a:uFillTx/>
                <a:latin typeface="Calibri"/>
                <a:ea typeface="Calibri"/>
              </a:rPr>
              <a:t>правил стиля JS и C# с автоисправлениями</a:t>
            </a:r>
            <a:endParaRPr lang="ru-RU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Shape 15"/>
          <p:cNvSpPr/>
          <p:nvPr/>
        </p:nvSpPr>
        <p:spPr>
          <a:xfrm>
            <a:off x="9070920" y="3977640"/>
            <a:ext cx="2568960" cy="2239920"/>
          </a:xfrm>
          <a:prstGeom prst="roundRect">
            <a:avLst>
              <a:gd name="adj" fmla="val 3265"/>
            </a:avLst>
          </a:prstGeom>
          <a:solidFill>
            <a:srgbClr val="EEF3FB"/>
          </a:solidFill>
          <a:ln w="12700">
            <a:solidFill>
              <a:srgbClr val="D5DE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Text 16"/>
          <p:cNvSpPr/>
          <p:nvPr/>
        </p:nvSpPr>
        <p:spPr>
          <a:xfrm>
            <a:off x="9299520" y="4206240"/>
            <a:ext cx="211176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trike="noStrike">
                <a:solidFill>
                  <a:srgbClr val="1E2761"/>
                </a:solidFill>
                <a:effectLst/>
                <a:uFillTx/>
                <a:latin typeface="Cambria"/>
                <a:ea typeface="Cambria"/>
              </a:rPr>
              <a:t>0</a:t>
            </a:r>
            <a:endParaRPr lang="ru-RU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Text 17"/>
          <p:cNvSpPr/>
          <p:nvPr/>
        </p:nvSpPr>
        <p:spPr>
          <a:xfrm>
            <a:off x="9299520" y="5029200"/>
            <a:ext cx="2111760" cy="95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5A6472"/>
                </a:solidFill>
                <a:effectLst/>
                <a:uFillTx/>
                <a:latin typeface="Calibri"/>
                <a:ea typeface="Calibri"/>
              </a:rPr>
              <a:t>настроек для старта: работает сразу после установки VSIX</a:t>
            </a:r>
            <a:endParaRPr lang="ru-RU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ext 0"/>
          <p:cNvSpPr/>
          <p:nvPr/>
        </p:nvSpPr>
        <p:spPr>
          <a:xfrm>
            <a:off x="548640" y="347400"/>
            <a:ext cx="110638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300" strike="noStrike">
                <a:solidFill>
                  <a:srgbClr val="6E7BB5"/>
                </a:solidFill>
                <a:effectLst/>
                <a:uFillTx/>
                <a:latin typeface="Calibri"/>
                <a:ea typeface="Calibri"/>
              </a:rPr>
              <a:t>КАК УСТРОЕНО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Text 1"/>
          <p:cNvSpPr/>
          <p:nvPr/>
        </p:nvSpPr>
        <p:spPr>
          <a:xfrm>
            <a:off x="548640" y="621720"/>
            <a:ext cx="1106388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900" b="1" u="none" strike="noStrike">
                <a:solidFill>
                  <a:srgbClr val="1E2761"/>
                </a:solidFill>
                <a:effectLst/>
                <a:uFillTx/>
                <a:latin typeface="Cambria"/>
                <a:ea typeface="Cambria"/>
              </a:rPr>
              <a:t>От файлов проекта — к возможностям редактора</a:t>
            </a:r>
            <a:endParaRPr lang="ru-RU" sz="2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Text 2"/>
          <p:cNvSpPr/>
          <p:nvPr/>
        </p:nvSpPr>
        <p:spPr>
          <a:xfrm>
            <a:off x="1138428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A6472"/>
                </a:solidFill>
                <a:effectLst/>
                <a:uFillTx/>
                <a:latin typeface="Calibri"/>
                <a:ea typeface="Calibri"/>
              </a:rPr>
              <a:t>4</a:t>
            </a:r>
            <a:endParaRPr lang="ru-RU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Shape 3"/>
          <p:cNvSpPr/>
          <p:nvPr/>
        </p:nvSpPr>
        <p:spPr>
          <a:xfrm>
            <a:off x="548640" y="1463040"/>
            <a:ext cx="3382920" cy="2880000"/>
          </a:xfrm>
          <a:prstGeom prst="roundRect">
            <a:avLst>
              <a:gd name="adj" fmla="val 2540"/>
            </a:avLst>
          </a:prstGeom>
          <a:solidFill>
            <a:srgbClr val="EEF3FB"/>
          </a:solidFill>
          <a:ln w="12700">
            <a:solidFill>
              <a:srgbClr val="D5DE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Text 4"/>
          <p:cNvSpPr/>
          <p:nvPr/>
        </p:nvSpPr>
        <p:spPr>
          <a:xfrm>
            <a:off x="804600" y="1645920"/>
            <a:ext cx="28710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Источники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Text 5"/>
          <p:cNvSpPr/>
          <p:nvPr/>
        </p:nvSpPr>
        <p:spPr>
          <a:xfrm>
            <a:off x="841320" y="2148840"/>
            <a:ext cx="2834280" cy="196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26262E"/>
              </a:buClr>
              <a:buFont typeface="Symbol" charset="2"/>
              <a:buChar char=""/>
            </a:pPr>
            <a:r>
              <a:rPr lang="en-US" sz="1150" b="0" u="none" strike="noStrike">
                <a:solidFill>
                  <a:srgbClr val="26262E"/>
                </a:solidFill>
                <a:effectLst/>
                <a:uFillTx/>
                <a:latin typeface="Calibri"/>
                <a:ea typeface="Calibri"/>
              </a:rPr>
              <a:t>conf/content — Structures и entity</a:t>
            </a:r>
            <a:endParaRPr lang="ru-RU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26262E"/>
              </a:buClr>
              <a:buFont typeface="Symbol" charset="2"/>
              <a:buChar char=""/>
            </a:pPr>
            <a:r>
              <a:rPr lang="en-US" sz="1150" b="0" u="none" strike="noStrike">
                <a:solidFill>
                  <a:srgbClr val="26262E"/>
                </a:solidFill>
                <a:effectLst/>
                <a:uFillTx/>
                <a:latin typeface="Calibri"/>
                <a:ea typeface="Calibri"/>
              </a:rPr>
              <a:t>Pkg/**/Schemas — схемы пакетов</a:t>
            </a:r>
            <a:endParaRPr lang="ru-RU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26262E"/>
              </a:buClr>
              <a:buFont typeface="Symbol" charset="2"/>
              <a:buChar char=""/>
            </a:pPr>
            <a:r>
              <a:rPr lang="en-US" sz="1150" b="0" u="none" strike="noStrike">
                <a:solidFill>
                  <a:srgbClr val="26262E"/>
                </a:solidFill>
                <a:effectLst/>
                <a:uFillTx/>
                <a:latin typeface="Calibri"/>
                <a:ea typeface="Calibri"/>
              </a:rPr>
              <a:t>descriptor.json, metadata.json</a:t>
            </a:r>
            <a:endParaRPr lang="ru-RU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26262E"/>
              </a:buClr>
              <a:buFont typeface="Symbol" charset="2"/>
              <a:buChar char=""/>
            </a:pPr>
            <a:r>
              <a:rPr lang="en-US" sz="1150" b="0" u="none" strike="noStrike">
                <a:solidFill>
                  <a:srgbClr val="26262E"/>
                </a:solidFill>
                <a:effectLst/>
                <a:uFillTx/>
                <a:latin typeface="Calibri"/>
                <a:ea typeface="Calibri"/>
              </a:rPr>
              <a:t>resource.*.xml — подписи колонок</a:t>
            </a:r>
            <a:endParaRPr lang="ru-RU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26262E"/>
              </a:buClr>
              <a:buFont typeface="Symbol" charset="2"/>
              <a:buChar char=""/>
            </a:pPr>
            <a:r>
              <a:rPr lang="en-US" sz="1150" b="0" u="none" strike="noStrike">
                <a:solidFill>
                  <a:srgbClr val="26262E"/>
                </a:solidFill>
                <a:effectLst/>
                <a:uFillTx/>
                <a:latin typeface="Calibri"/>
                <a:ea typeface="Calibri"/>
              </a:rPr>
              <a:t>Autogenerated/Src, Resources/ui</a:t>
            </a:r>
            <a:endParaRPr lang="ru-RU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Shape 6"/>
          <p:cNvSpPr/>
          <p:nvPr/>
        </p:nvSpPr>
        <p:spPr>
          <a:xfrm>
            <a:off x="4407480" y="1463040"/>
            <a:ext cx="3382920" cy="2880000"/>
          </a:xfrm>
          <a:prstGeom prst="roundRect">
            <a:avLst>
              <a:gd name="adj" fmla="val 2540"/>
            </a:avLst>
          </a:prstGeom>
          <a:solidFill>
            <a:srgbClr val="1E2761"/>
          </a:solidFill>
          <a:ln w="12700">
            <a:solidFill>
              <a:srgbClr val="1E276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" name="Text 7"/>
          <p:cNvSpPr/>
          <p:nvPr/>
        </p:nvSpPr>
        <p:spPr>
          <a:xfrm>
            <a:off x="4663440" y="1645920"/>
            <a:ext cx="28710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Индекс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Text 8"/>
          <p:cNvSpPr/>
          <p:nvPr/>
        </p:nvSpPr>
        <p:spPr>
          <a:xfrm>
            <a:off x="4700160" y="2148840"/>
            <a:ext cx="2834280" cy="196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CADCFC"/>
              </a:buClr>
              <a:buFont typeface="Symbol" charset="2"/>
              <a:buChar char=""/>
            </a:pPr>
            <a:r>
              <a:rPr lang="en-US" sz="115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SymbolIndex: модули и члены схем</a:t>
            </a:r>
            <a:endParaRPr lang="ru-RU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CADCFC"/>
              </a:buClr>
              <a:buFont typeface="Symbol" charset="2"/>
              <a:buChar char=""/>
            </a:pPr>
            <a:r>
              <a:rPr lang="en-US" sz="115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иерархия: стек + structureParent</a:t>
            </a:r>
            <a:endParaRPr lang="ru-RU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CADCFC"/>
              </a:buClr>
              <a:buFont typeface="Symbol" charset="2"/>
              <a:buChar char=""/>
            </a:pPr>
            <a:r>
              <a:rPr lang="en-US" sz="115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миксины, entity-колонки, сообщения</a:t>
            </a:r>
            <a:endParaRPr lang="ru-RU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CADCFC"/>
              </a:buClr>
              <a:buFont typeface="Symbol" charset="2"/>
              <a:buChar char=""/>
            </a:pPr>
            <a:r>
              <a:rPr lang="en-US" sz="115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AMD-разбор через acorn (AST)</a:t>
            </a:r>
            <a:endParaRPr lang="ru-RU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CADCFC"/>
              </a:buClr>
              <a:buFont typeface="Symbol" charset="2"/>
              <a:buChar char=""/>
            </a:pPr>
            <a:r>
              <a:rPr lang="en-US" sz="115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инкрементальное обновление</a:t>
            </a:r>
            <a:endParaRPr lang="ru-RU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Shape 9"/>
          <p:cNvSpPr/>
          <p:nvPr/>
        </p:nvSpPr>
        <p:spPr>
          <a:xfrm>
            <a:off x="8256960" y="1463040"/>
            <a:ext cx="3382920" cy="2880000"/>
          </a:xfrm>
          <a:prstGeom prst="roundRect">
            <a:avLst>
              <a:gd name="adj" fmla="val 2540"/>
            </a:avLst>
          </a:prstGeom>
          <a:solidFill>
            <a:srgbClr val="EEF3FB"/>
          </a:solidFill>
          <a:ln w="12700">
            <a:solidFill>
              <a:srgbClr val="D5DE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Text 10"/>
          <p:cNvSpPr/>
          <p:nvPr/>
        </p:nvSpPr>
        <p:spPr>
          <a:xfrm>
            <a:off x="8512920" y="1645920"/>
            <a:ext cx="28710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Возможности IDE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Text 11"/>
          <p:cNvSpPr/>
          <p:nvPr/>
        </p:nvSpPr>
        <p:spPr>
          <a:xfrm>
            <a:off x="8549640" y="2148840"/>
            <a:ext cx="2834280" cy="196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26262E"/>
              </a:buClr>
              <a:buFont typeface="Symbol" charset="2"/>
              <a:buChar char=""/>
            </a:pPr>
            <a:r>
              <a:rPr lang="en-US" sz="1150" b="0" u="none" strike="noStrike">
                <a:solidFill>
                  <a:srgbClr val="26262E"/>
                </a:solidFill>
                <a:effectLst/>
                <a:uFillTx/>
                <a:latin typeface="Calibri"/>
                <a:ea typeface="Calibri"/>
              </a:rPr>
              <a:t>автодополнение по контексту</a:t>
            </a:r>
            <a:endParaRPr lang="ru-RU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26262E"/>
              </a:buClr>
              <a:buFont typeface="Symbol" charset="2"/>
              <a:buChar char=""/>
            </a:pPr>
            <a:r>
              <a:rPr lang="en-US" sz="1150" b="0" u="none" strike="noStrike">
                <a:solidFill>
                  <a:srgbClr val="26262E"/>
                </a:solidFill>
                <a:effectLst/>
                <a:uFillTx/>
                <a:latin typeface="Calibri"/>
                <a:ea typeface="Calibri"/>
              </a:rPr>
              <a:t>переход к определению (F12)</a:t>
            </a:r>
            <a:endParaRPr lang="ru-RU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26262E"/>
              </a:buClr>
              <a:buFont typeface="Symbol" charset="2"/>
              <a:buChar char=""/>
            </a:pPr>
            <a:r>
              <a:rPr lang="en-US" sz="1150" b="0" u="none" strike="noStrike">
                <a:solidFill>
                  <a:srgbClr val="26262E"/>
                </a:solidFill>
                <a:effectLst/>
                <a:uFillTx/>
                <a:latin typeface="Calibri"/>
                <a:ea typeface="Calibri"/>
              </a:rPr>
              <a:t>hover-подсказки</a:t>
            </a:r>
            <a:endParaRPr lang="ru-RU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26262E"/>
              </a:buClr>
              <a:buFont typeface="Symbol" charset="2"/>
              <a:buChar char=""/>
            </a:pPr>
            <a:r>
              <a:rPr lang="en-US" sz="1150" b="0" u="none" strike="noStrike">
                <a:solidFill>
                  <a:srgbClr val="26262E"/>
                </a:solidFill>
                <a:effectLst/>
                <a:uFillTx/>
                <a:latin typeface="Calibri"/>
                <a:ea typeface="Calibri"/>
              </a:rPr>
              <a:t>диагностика + quick fix</a:t>
            </a:r>
            <a:endParaRPr lang="ru-RU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26262E"/>
              </a:buClr>
              <a:buFont typeface="Symbol" charset="2"/>
              <a:buChar char=""/>
            </a:pPr>
            <a:r>
              <a:rPr lang="en-US" sz="1150" b="0" u="none" strike="noStrike">
                <a:solidFill>
                  <a:srgbClr val="26262E"/>
                </a:solidFill>
                <a:effectLst/>
                <a:uFillTx/>
                <a:latin typeface="Calibri"/>
                <a:ea typeface="Calibri"/>
              </a:rPr>
              <a:t>контроль стиля JS / C#</a:t>
            </a:r>
            <a:endParaRPr lang="ru-RU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Shape 12"/>
          <p:cNvSpPr/>
          <p:nvPr/>
        </p:nvSpPr>
        <p:spPr>
          <a:xfrm>
            <a:off x="3986640" y="2697480"/>
            <a:ext cx="383760" cy="38376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" name="Shape 13"/>
          <p:cNvSpPr/>
          <p:nvPr/>
        </p:nvSpPr>
        <p:spPr>
          <a:xfrm>
            <a:off x="7836480" y="2697480"/>
            <a:ext cx="383760" cy="38376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" name="Shape 14"/>
          <p:cNvSpPr/>
          <p:nvPr/>
        </p:nvSpPr>
        <p:spPr>
          <a:xfrm>
            <a:off x="548640" y="4663440"/>
            <a:ext cx="11091240" cy="141696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5DE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Text 15"/>
          <p:cNvSpPr/>
          <p:nvPr/>
        </p:nvSpPr>
        <p:spPr>
          <a:xfrm>
            <a:off x="822960" y="4827960"/>
            <a:ext cx="10515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Актуальность в реальном времени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Text 16"/>
          <p:cNvSpPr/>
          <p:nvPr/>
        </p:nvSpPr>
        <p:spPr>
          <a:xfrm>
            <a:off x="822960" y="5193720"/>
            <a:ext cx="1056096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26262E"/>
                </a:solidFill>
                <a:effectLst/>
                <a:uFillTx/>
                <a:latin typeface="Calibri"/>
                <a:ea typeface="Calibri"/>
              </a:rPr>
              <a:t>Watcher'ы переиндексируют схемы, metadata и ресурсы при создании, изменении и удалении файлов. Команда «BPMSoft: Rebuild Index» выполняет полную переиндексацию, статус-бар показывает число модулей и тип layout. Правки схемы подхватываются сразу, без сохранения файла.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Text 0"/>
          <p:cNvSpPr/>
          <p:nvPr/>
        </p:nvSpPr>
        <p:spPr>
          <a:xfrm>
            <a:off x="548640" y="347400"/>
            <a:ext cx="110638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300" strike="noStrike">
                <a:solidFill>
                  <a:srgbClr val="6E7BB5"/>
                </a:solidFill>
                <a:effectLst/>
                <a:uFillTx/>
                <a:latin typeface="Calibri"/>
                <a:ea typeface="Calibri"/>
              </a:rPr>
              <a:t>ВОЗМОЖНОСТИ · 1 / 5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Text 1"/>
          <p:cNvSpPr/>
          <p:nvPr/>
        </p:nvSpPr>
        <p:spPr>
          <a:xfrm>
            <a:off x="548640" y="621720"/>
            <a:ext cx="1106388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900" b="1" u="none" strike="noStrike">
                <a:solidFill>
                  <a:srgbClr val="1E2761"/>
                </a:solidFill>
                <a:effectLst/>
                <a:uFillTx/>
                <a:latin typeface="Cambria"/>
                <a:ea typeface="Cambria"/>
              </a:rPr>
              <a:t>Автодополнение — подсказки там, где вы печатаете</a:t>
            </a:r>
            <a:endParaRPr lang="ru-RU" sz="2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Text 2"/>
          <p:cNvSpPr/>
          <p:nvPr/>
        </p:nvSpPr>
        <p:spPr>
          <a:xfrm>
            <a:off x="1138428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A6472"/>
                </a:solidFill>
                <a:effectLst/>
                <a:uFillTx/>
                <a:latin typeface="Calibri"/>
                <a:ea typeface="Calibri"/>
              </a:rPr>
              <a:t>5</a:t>
            </a:r>
            <a:endParaRPr lang="ru-RU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77" name="Table 0"/>
          <p:cNvGraphicFramePr/>
          <p:nvPr/>
        </p:nvGraphicFramePr>
        <p:xfrm>
          <a:off x="548640" y="1463040"/>
          <a:ext cx="11091240" cy="3803400"/>
        </p:xfrm>
        <a:graphic>
          <a:graphicData uri="http://schemas.openxmlformats.org/drawingml/2006/table">
            <a:tbl>
              <a:tblPr/>
              <a:tblGrid>
                <a:gridCol w="3931920"/>
                <a:gridCol w="7159680"/>
              </a:tblGrid>
              <a:tr h="475200">
                <a:tc>
                  <a:txBody>
                    <a:bodyPr lIns="73080" tIns="73080" r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Вы пишете</a:t>
                      </a:r>
                      <a:endParaRPr lang="ru-RU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9360">
                      <a:solidFill>
                        <a:srgbClr val="D5DEEC"/>
                      </a:solidFill>
                      <a:prstDash val="solid"/>
                    </a:lnL>
                    <a:lnR w="9360">
                      <a:solidFill>
                        <a:srgbClr val="D5DEEC"/>
                      </a:solidFill>
                      <a:prstDash val="solid"/>
                    </a:lnR>
                    <a:lnT w="9360">
                      <a:solidFill>
                        <a:srgbClr val="D5DEEC"/>
                      </a:solidFill>
                      <a:prstDash val="solid"/>
                    </a:lnT>
                    <a:lnB w="9360">
                      <a:solidFill>
                        <a:srgbClr val="D5DEEC"/>
                      </a:solidFill>
                      <a:prstDash val="soli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 lIns="73080" tIns="73080" r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Расширение предлагает</a:t>
                      </a:r>
                      <a:endParaRPr lang="ru-RU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9360">
                      <a:solidFill>
                        <a:srgbClr val="D5DEEC"/>
                      </a:solidFill>
                      <a:prstDash val="solid"/>
                    </a:lnL>
                    <a:lnR w="9360">
                      <a:solidFill>
                        <a:srgbClr val="D5DEEC"/>
                      </a:solidFill>
                      <a:prstDash val="solid"/>
                    </a:lnR>
                    <a:lnT w="9360">
                      <a:solidFill>
                        <a:srgbClr val="D5DEEC"/>
                      </a:solidFill>
                      <a:prstDash val="solid"/>
                    </a:lnT>
                    <a:lnB w="9360">
                      <a:solidFill>
                        <a:srgbClr val="D5DEEC"/>
                      </a:solidFill>
                      <a:prstDash val="solid"/>
                    </a:lnB>
                    <a:solidFill>
                      <a:srgbClr val="1E2761"/>
                    </a:solidFill>
                  </a:tcPr>
                </a:tc>
              </a:tr>
              <a:tr h="475200">
                <a:tc>
                  <a:txBody>
                    <a:bodyPr lIns="73080" tIns="73080" r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26262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this.</a:t>
                      </a:r>
                      <a:endParaRPr lang="ru-RU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9360">
                      <a:solidFill>
                        <a:srgbClr val="D5DEEC"/>
                      </a:solidFill>
                      <a:prstDash val="solid"/>
                    </a:lnL>
                    <a:lnR w="9360">
                      <a:solidFill>
                        <a:srgbClr val="D5DEEC"/>
                      </a:solidFill>
                      <a:prstDash val="solid"/>
                    </a:lnR>
                    <a:lnT w="9360">
                      <a:solidFill>
                        <a:srgbClr val="D5DEEC"/>
                      </a:solidFill>
                      <a:prstDash val="solid"/>
                    </a:lnT>
                    <a:lnB w="9360">
                      <a:solidFill>
                        <a:srgbClr val="D5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080" tIns="73080" r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26262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Методы, properties, атрибуты ($Name), миксины, колонки объекта, sandbox / Ext / BPMSoft</a:t>
                      </a:r>
                      <a:endParaRPr lang="ru-RU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9360">
                      <a:solidFill>
                        <a:srgbClr val="D5DEEC"/>
                      </a:solidFill>
                      <a:prstDash val="solid"/>
                    </a:lnL>
                    <a:lnR w="9360">
                      <a:solidFill>
                        <a:srgbClr val="D5DEEC"/>
                      </a:solidFill>
                      <a:prstDash val="solid"/>
                    </a:lnR>
                    <a:lnT w="9360">
                      <a:solidFill>
                        <a:srgbClr val="D5DEEC"/>
                      </a:solidFill>
                      <a:prstDash val="solid"/>
                    </a:lnT>
                    <a:lnB w="9360">
                      <a:solidFill>
                        <a:srgbClr val="D5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5200">
                <a:tc>
                  <a:txBody>
                    <a:bodyPr lIns="73080" tIns="73080" r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26262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this.$   ·   this.get("   ·   this.set("</a:t>
                      </a:r>
                      <a:endParaRPr lang="ru-RU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9360">
                      <a:solidFill>
                        <a:srgbClr val="D5DEEC"/>
                      </a:solidFill>
                      <a:prstDash val="solid"/>
                    </a:lnL>
                    <a:lnR w="9360">
                      <a:solidFill>
                        <a:srgbClr val="D5DEEC"/>
                      </a:solidFill>
                      <a:prstDash val="solid"/>
                    </a:lnR>
                    <a:lnT w="9360">
                      <a:solidFill>
                        <a:srgbClr val="D5DEEC"/>
                      </a:solidFill>
                      <a:prstDash val="solid"/>
                    </a:lnT>
                    <a:lnB w="9360">
                      <a:solidFill>
                        <a:srgbClr val="D5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080" tIns="73080" r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26262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Атрибуты схемы; у карточек — ещё и колонки entity-объекта</a:t>
                      </a:r>
                      <a:endParaRPr lang="ru-RU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9360">
                      <a:solidFill>
                        <a:srgbClr val="D5DEEC"/>
                      </a:solidFill>
                      <a:prstDash val="solid"/>
                    </a:lnL>
                    <a:lnR w="9360">
                      <a:solidFill>
                        <a:srgbClr val="D5DEEC"/>
                      </a:solidFill>
                      <a:prstDash val="solid"/>
                    </a:lnR>
                    <a:lnT w="9360">
                      <a:solidFill>
                        <a:srgbClr val="D5DEEC"/>
                      </a:solidFill>
                      <a:prstDash val="solid"/>
                    </a:lnT>
                    <a:lnB w="9360">
                      <a:solidFill>
                        <a:srgbClr val="D5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5200">
                <a:tc>
                  <a:txBody>
                    <a:bodyPr lIns="73080" tIns="73080" r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26262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this.sandbox.publish(" / subscribe("</a:t>
                      </a:r>
                      <a:endParaRPr lang="ru-RU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9360">
                      <a:solidFill>
                        <a:srgbClr val="D5DEEC"/>
                      </a:solidFill>
                      <a:prstDash val="solid"/>
                    </a:lnL>
                    <a:lnR w="9360">
                      <a:solidFill>
                        <a:srgbClr val="D5DEEC"/>
                      </a:solidFill>
                      <a:prstDash val="solid"/>
                    </a:lnR>
                    <a:lnT w="9360">
                      <a:solidFill>
                        <a:srgbClr val="D5DEEC"/>
                      </a:solidFill>
                      <a:prstDash val="solid"/>
                    </a:lnT>
                    <a:lnB w="9360">
                      <a:solidFill>
                        <a:srgbClr val="D5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080" tIns="73080" r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26262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Сообщения схемы, её иерархии, миксинов и ядра NavigationModule</a:t>
                      </a:r>
                      <a:endParaRPr lang="ru-RU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9360">
                      <a:solidFill>
                        <a:srgbClr val="D5DEEC"/>
                      </a:solidFill>
                      <a:prstDash val="solid"/>
                    </a:lnL>
                    <a:lnR w="9360">
                      <a:solidFill>
                        <a:srgbClr val="D5DEEC"/>
                      </a:solidFill>
                      <a:prstDash val="solid"/>
                    </a:lnR>
                    <a:lnT w="9360">
                      <a:solidFill>
                        <a:srgbClr val="D5DEEC"/>
                      </a:solidFill>
                      <a:prstDash val="solid"/>
                    </a:lnT>
                    <a:lnB w="9360">
                      <a:solidFill>
                        <a:srgbClr val="D5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5200">
                <a:tc>
                  <a:txBody>
                    <a:bodyPr lIns="73080" tIns="73080" r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26262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bindTo: "  в diff и methods</a:t>
                      </a:r>
                      <a:endParaRPr lang="ru-RU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9360">
                      <a:solidFill>
                        <a:srgbClr val="D5DEEC"/>
                      </a:solidFill>
                      <a:prstDash val="solid"/>
                    </a:lnL>
                    <a:lnR w="9360">
                      <a:solidFill>
                        <a:srgbClr val="D5DEEC"/>
                      </a:solidFill>
                      <a:prstDash val="solid"/>
                    </a:lnR>
                    <a:lnT w="9360">
                      <a:solidFill>
                        <a:srgbClr val="D5DEEC"/>
                      </a:solidFill>
                      <a:prstDash val="solid"/>
                    </a:lnT>
                    <a:lnB w="9360">
                      <a:solidFill>
                        <a:srgbClr val="D5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080" tIns="73080" r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26262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Методы и атрибуты схемы и всей иерархии</a:t>
                      </a:r>
                      <a:endParaRPr lang="ru-RU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9360">
                      <a:solidFill>
                        <a:srgbClr val="D5DEEC"/>
                      </a:solidFill>
                      <a:prstDash val="solid"/>
                    </a:lnL>
                    <a:lnR w="9360">
                      <a:solidFill>
                        <a:srgbClr val="D5DEEC"/>
                      </a:solidFill>
                      <a:prstDash val="solid"/>
                    </a:lnR>
                    <a:lnT w="9360">
                      <a:solidFill>
                        <a:srgbClr val="D5DEEC"/>
                      </a:solidFill>
                      <a:prstDash val="solid"/>
                    </a:lnT>
                    <a:lnB w="9360">
                      <a:solidFill>
                        <a:srgbClr val="D5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5200">
                <a:tc>
                  <a:txBody>
                    <a:bodyPr lIns="73080" tIns="73080" r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26262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this.MixinName.</a:t>
                      </a:r>
                      <a:endParaRPr lang="ru-RU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9360">
                      <a:solidFill>
                        <a:srgbClr val="D5DEEC"/>
                      </a:solidFill>
                      <a:prstDash val="solid"/>
                    </a:lnL>
                    <a:lnR w="9360">
                      <a:solidFill>
                        <a:srgbClr val="D5DEEC"/>
                      </a:solidFill>
                      <a:prstDash val="solid"/>
                    </a:lnR>
                    <a:lnT w="9360">
                      <a:solidFill>
                        <a:srgbClr val="D5DEEC"/>
                      </a:solidFill>
                      <a:prstDash val="solid"/>
                    </a:lnT>
                    <a:lnB w="9360">
                      <a:solidFill>
                        <a:srgbClr val="D5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080" tIns="73080" r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26262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Методы и свойства этого миксина</a:t>
                      </a:r>
                      <a:endParaRPr lang="ru-RU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9360">
                      <a:solidFill>
                        <a:srgbClr val="D5DEEC"/>
                      </a:solidFill>
                      <a:prstDash val="solid"/>
                    </a:lnL>
                    <a:lnR w="9360">
                      <a:solidFill>
                        <a:srgbClr val="D5DEEC"/>
                      </a:solidFill>
                      <a:prstDash val="solid"/>
                    </a:lnR>
                    <a:lnT w="9360">
                      <a:solidFill>
                        <a:srgbClr val="D5DEEC"/>
                      </a:solidFill>
                      <a:prstDash val="solid"/>
                    </a:lnT>
                    <a:lnB w="9360">
                      <a:solidFill>
                        <a:srgbClr val="D5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5200">
                <a:tc>
                  <a:txBody>
                    <a:bodyPr lIns="73080" tIns="73080" r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26262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BPMSoft.   ·   Ext.</a:t>
                      </a:r>
                      <a:endParaRPr lang="ru-RU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9360">
                      <a:solidFill>
                        <a:srgbClr val="D5DEEC"/>
                      </a:solidFill>
                      <a:prstDash val="solid"/>
                    </a:lnL>
                    <a:lnR w="9360">
                      <a:solidFill>
                        <a:srgbClr val="D5DEEC"/>
                      </a:solidFill>
                      <a:prstDash val="solid"/>
                    </a:lnR>
                    <a:lnT w="9360">
                      <a:solidFill>
                        <a:srgbClr val="D5DEEC"/>
                      </a:solidFill>
                      <a:prstDash val="solid"/>
                    </a:lnT>
                    <a:lnB w="9360">
                      <a:solidFill>
                        <a:srgbClr val="D5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080" tIns="73080" r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26262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Enums (DataValueType, SysValue), классы платформы, Structures проекта, API ExtJs</a:t>
                      </a:r>
                      <a:endParaRPr lang="ru-RU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9360">
                      <a:solidFill>
                        <a:srgbClr val="D5DEEC"/>
                      </a:solidFill>
                      <a:prstDash val="solid"/>
                    </a:lnL>
                    <a:lnR w="9360">
                      <a:solidFill>
                        <a:srgbClr val="D5DEEC"/>
                      </a:solidFill>
                      <a:prstDash val="solid"/>
                    </a:lnR>
                    <a:lnT w="9360">
                      <a:solidFill>
                        <a:srgbClr val="D5DEEC"/>
                      </a:solidFill>
                      <a:prstDash val="solid"/>
                    </a:lnT>
                    <a:lnB w="9360">
                      <a:solidFill>
                        <a:srgbClr val="D5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5200">
                <a:tc>
                  <a:txBody>
                    <a:bodyPr lIns="73080" tIns="73080" r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26262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внутри methods { }</a:t>
                      </a:r>
                      <a:endParaRPr lang="ru-RU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9360">
                      <a:solidFill>
                        <a:srgbClr val="D5DEEC"/>
                      </a:solidFill>
                      <a:prstDash val="solid"/>
                    </a:lnL>
                    <a:lnR w="9360">
                      <a:solidFill>
                        <a:srgbClr val="D5DEEC"/>
                      </a:solidFill>
                      <a:prstDash val="solid"/>
                    </a:lnR>
                    <a:lnT w="9360">
                      <a:solidFill>
                        <a:srgbClr val="D5DEEC"/>
                      </a:solidFill>
                      <a:prstDash val="solid"/>
                    </a:lnT>
                    <a:lnB w="9360">
                      <a:solidFill>
                        <a:srgbClr val="D5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080" tIns="73080" r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26262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Сниппеты override родительских методов — сразу с callParent и @overriden</a:t>
                      </a:r>
                      <a:endParaRPr lang="ru-RU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9360">
                      <a:solidFill>
                        <a:srgbClr val="D5DEEC"/>
                      </a:solidFill>
                      <a:prstDash val="solid"/>
                    </a:lnL>
                    <a:lnR w="9360">
                      <a:solidFill>
                        <a:srgbClr val="D5DEEC"/>
                      </a:solidFill>
                      <a:prstDash val="solid"/>
                    </a:lnR>
                    <a:lnT w="9360">
                      <a:solidFill>
                        <a:srgbClr val="D5DEEC"/>
                      </a:solidFill>
                      <a:prstDash val="solid"/>
                    </a:lnT>
                    <a:lnB w="9360">
                      <a:solidFill>
                        <a:srgbClr val="D5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8" name="Text 3"/>
          <p:cNvSpPr/>
          <p:nvPr/>
        </p:nvSpPr>
        <p:spPr>
          <a:xfrm>
            <a:off x="548640" y="5943600"/>
            <a:ext cx="110638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i="1" u="none" strike="noStrike">
                <a:solidFill>
                  <a:srgbClr val="5A6472"/>
                </a:solidFill>
                <a:effectLst/>
                <a:uFillTx/>
                <a:latin typeface="Calibri"/>
                <a:ea typeface="Calibri"/>
              </a:rPr>
              <a:t>Индексированные подсказки ранжируются выше словарных: расширение отключает word-based suggestions в workspace (настройка bpmsoft.preferIndexedCompletions).</a:t>
            </a:r>
            <a:endParaRPr lang="ru-RU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Text 0"/>
          <p:cNvSpPr/>
          <p:nvPr/>
        </p:nvSpPr>
        <p:spPr>
          <a:xfrm>
            <a:off x="548640" y="347400"/>
            <a:ext cx="110638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300" strike="noStrike">
                <a:solidFill>
                  <a:srgbClr val="6E7BB5"/>
                </a:solidFill>
                <a:effectLst/>
                <a:uFillTx/>
                <a:latin typeface="Calibri"/>
                <a:ea typeface="Calibri"/>
              </a:rPr>
              <a:t>ВОЗМОЖНОСТИ · 2 / 5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Text 1"/>
          <p:cNvSpPr/>
          <p:nvPr/>
        </p:nvSpPr>
        <p:spPr>
          <a:xfrm>
            <a:off x="548640" y="621720"/>
            <a:ext cx="1106388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900" b="1" u="none" strike="noStrike">
                <a:solidFill>
                  <a:srgbClr val="1E2761"/>
                </a:solidFill>
                <a:effectLst/>
                <a:uFillTx/>
                <a:latin typeface="Cambria"/>
                <a:ea typeface="Cambria"/>
              </a:rPr>
              <a:t>Навигация (F12) и подсказки при наведении</a:t>
            </a:r>
            <a:endParaRPr lang="ru-RU" sz="2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Text 2"/>
          <p:cNvSpPr/>
          <p:nvPr/>
        </p:nvSpPr>
        <p:spPr>
          <a:xfrm>
            <a:off x="1138428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A6472"/>
                </a:solidFill>
                <a:effectLst/>
                <a:uFillTx/>
                <a:latin typeface="Calibri"/>
                <a:ea typeface="Calibri"/>
              </a:rPr>
              <a:t>6</a:t>
            </a:r>
            <a:endParaRPr lang="ru-RU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Text 3"/>
          <p:cNvSpPr/>
          <p:nvPr/>
        </p:nvSpPr>
        <p:spPr>
          <a:xfrm>
            <a:off x="548640" y="1463040"/>
            <a:ext cx="56689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Переход к определению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Text 4"/>
          <p:cNvSpPr/>
          <p:nvPr/>
        </p:nvSpPr>
        <p:spPr>
          <a:xfrm>
            <a:off x="594360" y="1920240"/>
            <a:ext cx="5623200" cy="402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26262E"/>
              </a:buClr>
              <a:buFont typeface="Symbol" charset="2"/>
              <a:buChar char=""/>
            </a:pPr>
            <a:r>
              <a:rPr lang="en-US" sz="1250" b="0" u="none" strike="noStrike">
                <a:solidFill>
                  <a:srgbClr val="26262E"/>
                </a:solidFill>
                <a:effectLst/>
                <a:uFillTx/>
                <a:latin typeface="Calibri"/>
                <a:ea typeface="Calibri"/>
              </a:rPr>
              <a:t>this.foo, this.$Foo, this.get("Foo") — в схему, родителя, миксин или entity</a:t>
            </a:r>
            <a:endParaRPr lang="ru-RU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26262E"/>
              </a:buClr>
              <a:buFont typeface="Symbol" charset="2"/>
              <a:buChar char=""/>
            </a:pPr>
            <a:r>
              <a:rPr lang="en-US" sz="1250" b="0" u="none" strike="noStrike">
                <a:solidFill>
                  <a:srgbClr val="26262E"/>
                </a:solidFill>
                <a:effectLst/>
                <a:uFillTx/>
                <a:latin typeface="Calibri"/>
                <a:ea typeface="Calibri"/>
              </a:rPr>
              <a:t>this.MixinName.foo — в объявление внутри миксина</a:t>
            </a:r>
            <a:endParaRPr lang="ru-RU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26262E"/>
              </a:buClr>
              <a:buFont typeface="Symbol" charset="2"/>
              <a:buChar char=""/>
            </a:pPr>
            <a:r>
              <a:rPr lang="en-US" sz="1250" b="0" u="none" strike="noStrike">
                <a:solidFill>
                  <a:srgbClr val="26262E"/>
                </a:solidFill>
                <a:effectLst/>
                <a:uFillTx/>
                <a:latin typeface="Calibri"/>
                <a:ea typeface="Calibri"/>
              </a:rPr>
              <a:t>sandbox.publish / subscribe("Msg") — в блок messages схемы, родителя или NavigationModule</a:t>
            </a:r>
            <a:endParaRPr lang="ru-RU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26262E"/>
              </a:buClr>
              <a:buFont typeface="Symbol" charset="2"/>
              <a:buChar char=""/>
            </a:pPr>
            <a:r>
              <a:rPr lang="en-US" sz="1250" b="0" u="none" strike="noStrike">
                <a:solidFill>
                  <a:srgbClr val="26262E"/>
                </a:solidFill>
                <a:effectLst/>
                <a:uFillTx/>
                <a:latin typeface="Calibri"/>
                <a:ea typeface="Calibri"/>
              </a:rPr>
              <a:t>bindTo: "getVisible" в diff — в метод или атрибут</a:t>
            </a:r>
            <a:endParaRPr lang="ru-RU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26262E"/>
              </a:buClr>
              <a:buFont typeface="Symbol" charset="2"/>
              <a:buChar char=""/>
            </a:pPr>
            <a:r>
              <a:rPr lang="en-US" sz="1250" b="0" u="none" strike="noStrike">
                <a:solidFill>
                  <a:srgbClr val="26262E"/>
                </a:solidFill>
                <a:effectLst/>
                <a:uFillTx/>
                <a:latin typeface="Calibri"/>
                <a:ea typeface="Calibri"/>
              </a:rPr>
              <a:t>BPMSoft.generateGUID, SysValue.* и другие API — в исходники Resources/ui</a:t>
            </a:r>
            <a:endParaRPr lang="ru-RU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26262E"/>
              </a:buClr>
              <a:buFont typeface="Symbol" charset="2"/>
              <a:buChar char=""/>
            </a:pPr>
            <a:r>
              <a:rPr lang="en-US" sz="1250" b="0" u="none" strike="noStrike">
                <a:solidFill>
                  <a:srgbClr val="26262E"/>
                </a:solidFill>
                <a:effectLst/>
                <a:uFillTx/>
                <a:latin typeface="Calibri"/>
                <a:ea typeface="Calibri"/>
              </a:rPr>
              <a:t>имя AMD-модуля или алиас из define([...]) — в файл модуля</a:t>
            </a:r>
            <a:endParaRPr lang="ru-RU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Text 5"/>
          <p:cNvSpPr/>
          <p:nvPr/>
        </p:nvSpPr>
        <p:spPr>
          <a:xfrm>
            <a:off x="6583680" y="1463040"/>
            <a:ext cx="5028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Hover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Text 6"/>
          <p:cNvSpPr/>
          <p:nvPr/>
        </p:nvSpPr>
        <p:spPr>
          <a:xfrm>
            <a:off x="6583680" y="1920240"/>
            <a:ext cx="50288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26262E"/>
                </a:solidFill>
                <a:effectLst/>
                <a:uFillTx/>
                <a:latin typeface="Calibri"/>
                <a:ea typeface="Calibri"/>
              </a:rPr>
              <a:t>По тем же конструкциям — карточка с видом члена, документацией и источником: пакет, Autogenerated, миксин или entity.</a:t>
            </a:r>
            <a:endParaRPr lang="ru-RU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Shape 7"/>
          <p:cNvSpPr/>
          <p:nvPr/>
        </p:nvSpPr>
        <p:spPr>
          <a:xfrm>
            <a:off x="6583680" y="2880360"/>
            <a:ext cx="5056200" cy="1828440"/>
          </a:xfrm>
          <a:prstGeom prst="roundRect">
            <a:avLst>
              <a:gd name="adj" fmla="val 4000"/>
            </a:avLst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" name="Text 8"/>
          <p:cNvSpPr/>
          <p:nvPr/>
        </p:nvSpPr>
        <p:spPr>
          <a:xfrm>
            <a:off x="6812280" y="3063240"/>
            <a:ext cx="4617360" cy="146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pos="0" algn="l"/>
              </a:tabLst>
            </a:pPr>
            <a:r>
              <a:rPr lang="en-US" sz="125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(method) onLeadSaved(config)</a:t>
            </a:r>
            <a:endParaRPr lang="ru-RU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601"/>
              </a:spcAft>
              <a:tabLst>
                <a:tab pos="0" algn="l"/>
              </a:tabLst>
            </a:pPr>
            <a:r>
              <a:rPr lang="en-US" sz="115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Сохраняет лид и публикует сообщение UpdateLeadInfo.</a:t>
            </a:r>
            <a:endParaRPr lang="ru-RU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i="1" u="none" strike="noStrike">
                <a:solidFill>
                  <a:srgbClr val="9FB4E0"/>
                </a:solidFill>
                <a:effectLst/>
                <a:uFillTx/>
                <a:latin typeface="Calibri"/>
                <a:ea typeface="Calibri"/>
              </a:rPr>
              <a:t>Источник: LeadPageV2 · Pkg/Lead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Text 9"/>
          <p:cNvSpPr/>
          <p:nvPr/>
        </p:nvSpPr>
        <p:spPr>
          <a:xfrm>
            <a:off x="6583680" y="4983480"/>
            <a:ext cx="50288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i="1" u="none" strike="noStrike">
                <a:solidFill>
                  <a:srgbClr val="5A6472"/>
                </a:solidFill>
                <a:effectLst/>
                <a:uFillTx/>
                <a:latin typeface="Calibri"/>
                <a:ea typeface="Calibri"/>
              </a:rPr>
              <a:t>Работает и там, где TypeScript-сервис бессилен: связи существуют только в терминах пакетов BPMSoft.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Text 0"/>
          <p:cNvSpPr/>
          <p:nvPr/>
        </p:nvSpPr>
        <p:spPr>
          <a:xfrm>
            <a:off x="548640" y="347400"/>
            <a:ext cx="110638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300" strike="noStrike">
                <a:solidFill>
                  <a:srgbClr val="6E7BB5"/>
                </a:solidFill>
                <a:effectLst/>
                <a:uFillTx/>
                <a:latin typeface="Calibri"/>
                <a:ea typeface="Calibri"/>
              </a:rPr>
              <a:t>ВОЗМОЖНОСТИ · 3 / 5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Text 1"/>
          <p:cNvSpPr/>
          <p:nvPr/>
        </p:nvSpPr>
        <p:spPr>
          <a:xfrm>
            <a:off x="548640" y="621720"/>
            <a:ext cx="1106388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900" b="1" u="none" strike="noStrike">
                <a:solidFill>
                  <a:srgbClr val="1E2761"/>
                </a:solidFill>
                <a:effectLst/>
                <a:uFillTx/>
                <a:latin typeface="Cambria"/>
                <a:ea typeface="Cambria"/>
              </a:rPr>
              <a:t>Диагностика this.* — ошибки до рантайма</a:t>
            </a:r>
            <a:endParaRPr lang="ru-RU" sz="2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Text 2"/>
          <p:cNvSpPr/>
          <p:nvPr/>
        </p:nvSpPr>
        <p:spPr>
          <a:xfrm>
            <a:off x="1138428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A6472"/>
                </a:solidFill>
                <a:effectLst/>
                <a:uFillTx/>
                <a:latin typeface="Calibri"/>
                <a:ea typeface="Calibri"/>
              </a:rPr>
              <a:t>7</a:t>
            </a:r>
            <a:endParaRPr lang="ru-RU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92" name="Table 0"/>
          <p:cNvGraphicFramePr/>
          <p:nvPr/>
        </p:nvGraphicFramePr>
        <p:xfrm>
          <a:off x="548640" y="1463040"/>
          <a:ext cx="11091240" cy="3328200"/>
        </p:xfrm>
        <a:graphic>
          <a:graphicData uri="http://schemas.openxmlformats.org/drawingml/2006/table">
            <a:tbl>
              <a:tblPr/>
              <a:tblGrid>
                <a:gridCol w="3200400"/>
                <a:gridCol w="3566160"/>
                <a:gridCol w="1188720"/>
                <a:gridCol w="3136320"/>
              </a:tblGrid>
              <a:tr h="475200">
                <a:tc>
                  <a:txBody>
                    <a:bodyPr lIns="73080" tIns="73080" r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Обращение</a:t>
                      </a:r>
                      <a:endParaRPr lang="ru-RU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9360">
                      <a:solidFill>
                        <a:srgbClr val="D5DEEC"/>
                      </a:solidFill>
                      <a:prstDash val="solid"/>
                    </a:lnL>
                    <a:lnR w="9360">
                      <a:solidFill>
                        <a:srgbClr val="D5DEEC"/>
                      </a:solidFill>
                      <a:prstDash val="solid"/>
                    </a:lnR>
                    <a:lnT w="9360">
                      <a:solidFill>
                        <a:srgbClr val="D5DEEC"/>
                      </a:solidFill>
                      <a:prstDash val="solid"/>
                    </a:lnT>
                    <a:lnB w="9360">
                      <a:solidFill>
                        <a:srgbClr val="D5DEEC"/>
                      </a:solidFill>
                      <a:prstDash val="soli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 lIns="73080" tIns="73080" r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Подсвечивается, если</a:t>
                      </a:r>
                      <a:endParaRPr lang="ru-RU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9360">
                      <a:solidFill>
                        <a:srgbClr val="D5DEEC"/>
                      </a:solidFill>
                      <a:prstDash val="solid"/>
                    </a:lnL>
                    <a:lnR w="9360">
                      <a:solidFill>
                        <a:srgbClr val="D5DEEC"/>
                      </a:solidFill>
                      <a:prstDash val="solid"/>
                    </a:lnR>
                    <a:lnT w="9360">
                      <a:solidFill>
                        <a:srgbClr val="D5DEEC"/>
                      </a:solidFill>
                      <a:prstDash val="solid"/>
                    </a:lnT>
                    <a:lnB w="9360">
                      <a:solidFill>
                        <a:srgbClr val="D5DEEC"/>
                      </a:solidFill>
                      <a:prstDash val="soli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 lIns="73080" tIns="73080" r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Уровень</a:t>
                      </a:r>
                      <a:endParaRPr lang="ru-RU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9360">
                      <a:solidFill>
                        <a:srgbClr val="D5DEEC"/>
                      </a:solidFill>
                      <a:prstDash val="solid"/>
                    </a:lnL>
                    <a:lnR w="9360">
                      <a:solidFill>
                        <a:srgbClr val="D5DEEC"/>
                      </a:solidFill>
                      <a:prstDash val="solid"/>
                    </a:lnR>
                    <a:lnT w="9360">
                      <a:solidFill>
                        <a:srgbClr val="D5DEEC"/>
                      </a:solidFill>
                      <a:prstDash val="solid"/>
                    </a:lnT>
                    <a:lnB w="9360">
                      <a:solidFill>
                        <a:srgbClr val="D5DEEC"/>
                      </a:solidFill>
                      <a:prstDash val="soli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 lIns="73080" tIns="73080" r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Quick Fix (Ctrl+.)</a:t>
                      </a:r>
                      <a:endParaRPr lang="ru-RU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9360">
                      <a:solidFill>
                        <a:srgbClr val="D5DEEC"/>
                      </a:solidFill>
                      <a:prstDash val="solid"/>
                    </a:lnL>
                    <a:lnR w="9360">
                      <a:solidFill>
                        <a:srgbClr val="D5DEEC"/>
                      </a:solidFill>
                      <a:prstDash val="solid"/>
                    </a:lnR>
                    <a:lnT w="9360">
                      <a:solidFill>
                        <a:srgbClr val="D5DEEC"/>
                      </a:solidFill>
                      <a:prstDash val="solid"/>
                    </a:lnT>
                    <a:lnB w="9360">
                      <a:solidFill>
                        <a:srgbClr val="D5DEEC"/>
                      </a:solidFill>
                      <a:prstDash val="solid"/>
                    </a:lnB>
                    <a:solidFill>
                      <a:srgbClr val="1E2761"/>
                    </a:solidFill>
                  </a:tcPr>
                </a:tc>
              </a:tr>
              <a:tr h="475200">
                <a:tc>
                  <a:txBody>
                    <a:bodyPr lIns="73080" tIns="73080" r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26262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this.foo(</a:t>
                      </a:r>
                      <a:endParaRPr lang="ru-RU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9360">
                      <a:solidFill>
                        <a:srgbClr val="D5DEEC"/>
                      </a:solidFill>
                      <a:prstDash val="solid"/>
                    </a:lnL>
                    <a:lnR w="9360">
                      <a:solidFill>
                        <a:srgbClr val="D5DEEC"/>
                      </a:solidFill>
                      <a:prstDash val="solid"/>
                    </a:lnR>
                    <a:lnT w="9360">
                      <a:solidFill>
                        <a:srgbClr val="D5DEEC"/>
                      </a:solidFill>
                      <a:prstDash val="solid"/>
                    </a:lnT>
                    <a:lnB w="9360">
                      <a:solidFill>
                        <a:srgbClr val="D5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080" tIns="73080" r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26262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метода нет в схеме и иерархии</a:t>
                      </a:r>
                      <a:endParaRPr lang="ru-RU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9360">
                      <a:solidFill>
                        <a:srgbClr val="D5DEEC"/>
                      </a:solidFill>
                      <a:prstDash val="solid"/>
                    </a:lnL>
                    <a:lnR w="9360">
                      <a:solidFill>
                        <a:srgbClr val="D5DEEC"/>
                      </a:solidFill>
                      <a:prstDash val="solid"/>
                    </a:lnR>
                    <a:lnT w="9360">
                      <a:solidFill>
                        <a:srgbClr val="D5DEEC"/>
                      </a:solidFill>
                      <a:prstDash val="solid"/>
                    </a:lnT>
                    <a:lnB w="9360">
                      <a:solidFill>
                        <a:srgbClr val="D5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080" tIns="73080" r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26262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ошибка</a:t>
                      </a:r>
                      <a:endParaRPr lang="ru-RU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9360">
                      <a:solidFill>
                        <a:srgbClr val="D5DEEC"/>
                      </a:solidFill>
                      <a:prstDash val="solid"/>
                    </a:lnL>
                    <a:lnR w="9360">
                      <a:solidFill>
                        <a:srgbClr val="D5DEEC"/>
                      </a:solidFill>
                      <a:prstDash val="solid"/>
                    </a:lnR>
                    <a:lnT w="9360">
                      <a:solidFill>
                        <a:srgbClr val="D5DEEC"/>
                      </a:solidFill>
                      <a:prstDash val="solid"/>
                    </a:lnT>
                    <a:lnB w="9360">
                      <a:solidFill>
                        <a:srgbClr val="D5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080" tIns="73080" r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26262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создать метод</a:t>
                      </a:r>
                      <a:endParaRPr lang="ru-RU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9360">
                      <a:solidFill>
                        <a:srgbClr val="D5DEEC"/>
                      </a:solidFill>
                      <a:prstDash val="solid"/>
                    </a:lnL>
                    <a:lnR w="9360">
                      <a:solidFill>
                        <a:srgbClr val="D5DEEC"/>
                      </a:solidFill>
                      <a:prstDash val="solid"/>
                    </a:lnR>
                    <a:lnT w="9360">
                      <a:solidFill>
                        <a:srgbClr val="D5DEEC"/>
                      </a:solidFill>
                      <a:prstDash val="solid"/>
                    </a:lnT>
                    <a:lnB w="9360">
                      <a:solidFill>
                        <a:srgbClr val="D5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5200">
                <a:tc>
                  <a:txBody>
                    <a:bodyPr lIns="73080" tIns="73080" r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26262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this.foo</a:t>
                      </a:r>
                      <a:endParaRPr lang="ru-RU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9360">
                      <a:solidFill>
                        <a:srgbClr val="D5DEEC"/>
                      </a:solidFill>
                      <a:prstDash val="solid"/>
                    </a:lnL>
                    <a:lnR w="9360">
                      <a:solidFill>
                        <a:srgbClr val="D5DEEC"/>
                      </a:solidFill>
                      <a:prstDash val="solid"/>
                    </a:lnR>
                    <a:lnT w="9360">
                      <a:solidFill>
                        <a:srgbClr val="D5DEEC"/>
                      </a:solidFill>
                      <a:prstDash val="solid"/>
                    </a:lnT>
                    <a:lnB w="9360">
                      <a:solidFill>
                        <a:srgbClr val="D5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080" tIns="73080" r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26262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имени нет ни у какого члена</a:t>
                      </a:r>
                      <a:endParaRPr lang="ru-RU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9360">
                      <a:solidFill>
                        <a:srgbClr val="D5DEEC"/>
                      </a:solidFill>
                      <a:prstDash val="solid"/>
                    </a:lnL>
                    <a:lnR w="9360">
                      <a:solidFill>
                        <a:srgbClr val="D5DEEC"/>
                      </a:solidFill>
                      <a:prstDash val="solid"/>
                    </a:lnR>
                    <a:lnT w="9360">
                      <a:solidFill>
                        <a:srgbClr val="D5DEEC"/>
                      </a:solidFill>
                      <a:prstDash val="solid"/>
                    </a:lnT>
                    <a:lnB w="9360">
                      <a:solidFill>
                        <a:srgbClr val="D5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080" tIns="73080" r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26262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предупр.</a:t>
                      </a:r>
                      <a:endParaRPr lang="ru-RU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9360">
                      <a:solidFill>
                        <a:srgbClr val="D5DEEC"/>
                      </a:solidFill>
                      <a:prstDash val="solid"/>
                    </a:lnL>
                    <a:lnR w="9360">
                      <a:solidFill>
                        <a:srgbClr val="D5DEEC"/>
                      </a:solidFill>
                      <a:prstDash val="solid"/>
                    </a:lnR>
                    <a:lnT w="9360">
                      <a:solidFill>
                        <a:srgbClr val="D5DEEC"/>
                      </a:solidFill>
                      <a:prstDash val="solid"/>
                    </a:lnT>
                    <a:lnB w="9360">
                      <a:solidFill>
                        <a:srgbClr val="D5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080" tIns="73080" r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26262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создать property или метод</a:t>
                      </a:r>
                      <a:endParaRPr lang="ru-RU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9360">
                      <a:solidFill>
                        <a:srgbClr val="D5DEEC"/>
                      </a:solidFill>
                      <a:prstDash val="solid"/>
                    </a:lnL>
                    <a:lnR w="9360">
                      <a:solidFill>
                        <a:srgbClr val="D5DEEC"/>
                      </a:solidFill>
                      <a:prstDash val="solid"/>
                    </a:lnR>
                    <a:lnT w="9360">
                      <a:solidFill>
                        <a:srgbClr val="D5DEEC"/>
                      </a:solidFill>
                      <a:prstDash val="solid"/>
                    </a:lnT>
                    <a:lnB w="9360">
                      <a:solidFill>
                        <a:srgbClr val="D5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5200">
                <a:tc>
                  <a:txBody>
                    <a:bodyPr lIns="73080" tIns="73080" r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26262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this.$Foo · get / set("Foo")</a:t>
                      </a:r>
                      <a:endParaRPr lang="ru-RU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9360">
                      <a:solidFill>
                        <a:srgbClr val="D5DEEC"/>
                      </a:solidFill>
                      <a:prstDash val="solid"/>
                    </a:lnL>
                    <a:lnR w="9360">
                      <a:solidFill>
                        <a:srgbClr val="D5DEEC"/>
                      </a:solidFill>
                      <a:prstDash val="solid"/>
                    </a:lnR>
                    <a:lnT w="9360">
                      <a:solidFill>
                        <a:srgbClr val="D5DEEC"/>
                      </a:solidFill>
                      <a:prstDash val="solid"/>
                    </a:lnT>
                    <a:lnB w="9360">
                      <a:solidFill>
                        <a:srgbClr val="D5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080" tIns="73080" r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26262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нет такого атрибута</a:t>
                      </a:r>
                      <a:endParaRPr lang="ru-RU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9360">
                      <a:solidFill>
                        <a:srgbClr val="D5DEEC"/>
                      </a:solidFill>
                      <a:prstDash val="solid"/>
                    </a:lnL>
                    <a:lnR w="9360">
                      <a:solidFill>
                        <a:srgbClr val="D5DEEC"/>
                      </a:solidFill>
                      <a:prstDash val="solid"/>
                    </a:lnR>
                    <a:lnT w="9360">
                      <a:solidFill>
                        <a:srgbClr val="D5DEEC"/>
                      </a:solidFill>
                      <a:prstDash val="solid"/>
                    </a:lnT>
                    <a:lnB w="9360">
                      <a:solidFill>
                        <a:srgbClr val="D5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080" tIns="73080" r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26262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предупр.</a:t>
                      </a:r>
                      <a:endParaRPr lang="ru-RU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9360">
                      <a:solidFill>
                        <a:srgbClr val="D5DEEC"/>
                      </a:solidFill>
                      <a:prstDash val="solid"/>
                    </a:lnL>
                    <a:lnR w="9360">
                      <a:solidFill>
                        <a:srgbClr val="D5DEEC"/>
                      </a:solidFill>
                      <a:prstDash val="solid"/>
                    </a:lnR>
                    <a:lnT w="9360">
                      <a:solidFill>
                        <a:srgbClr val="D5DEEC"/>
                      </a:solidFill>
                      <a:prstDash val="solid"/>
                    </a:lnT>
                    <a:lnB w="9360">
                      <a:solidFill>
                        <a:srgbClr val="D5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080" tIns="73080" r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26262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создать атрибут</a:t>
                      </a:r>
                      <a:endParaRPr lang="ru-RU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9360">
                      <a:solidFill>
                        <a:srgbClr val="D5DEEC"/>
                      </a:solidFill>
                      <a:prstDash val="solid"/>
                    </a:lnL>
                    <a:lnR w="9360">
                      <a:solidFill>
                        <a:srgbClr val="D5DEEC"/>
                      </a:solidFill>
                      <a:prstDash val="solid"/>
                    </a:lnR>
                    <a:lnT w="9360">
                      <a:solidFill>
                        <a:srgbClr val="D5DEEC"/>
                      </a:solidFill>
                      <a:prstDash val="solid"/>
                    </a:lnT>
                    <a:lnB w="9360">
                      <a:solidFill>
                        <a:srgbClr val="D5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5200">
                <a:tc>
                  <a:txBody>
                    <a:bodyPr lIns="73080" tIns="73080" r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26262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this.mixins.Name.foo</a:t>
                      </a:r>
                      <a:endParaRPr lang="ru-RU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9360">
                      <a:solidFill>
                        <a:srgbClr val="D5DEEC"/>
                      </a:solidFill>
                      <a:prstDash val="solid"/>
                    </a:lnL>
                    <a:lnR w="9360">
                      <a:solidFill>
                        <a:srgbClr val="D5DEEC"/>
                      </a:solidFill>
                      <a:prstDash val="solid"/>
                    </a:lnR>
                    <a:lnT w="9360">
                      <a:solidFill>
                        <a:srgbClr val="D5DEEC"/>
                      </a:solidFill>
                      <a:prstDash val="solid"/>
                    </a:lnT>
                    <a:lnB w="9360">
                      <a:solidFill>
                        <a:srgbClr val="D5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080" tIns="73080" r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26262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нет миксина или его члена</a:t>
                      </a:r>
                      <a:endParaRPr lang="ru-RU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9360">
                      <a:solidFill>
                        <a:srgbClr val="D5DEEC"/>
                      </a:solidFill>
                      <a:prstDash val="solid"/>
                    </a:lnL>
                    <a:lnR w="9360">
                      <a:solidFill>
                        <a:srgbClr val="D5DEEC"/>
                      </a:solidFill>
                      <a:prstDash val="solid"/>
                    </a:lnR>
                    <a:lnT w="9360">
                      <a:solidFill>
                        <a:srgbClr val="D5DEEC"/>
                      </a:solidFill>
                      <a:prstDash val="solid"/>
                    </a:lnT>
                    <a:lnB w="9360">
                      <a:solidFill>
                        <a:srgbClr val="D5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080" tIns="73080" r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26262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ошибка</a:t>
                      </a:r>
                      <a:endParaRPr lang="ru-RU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9360">
                      <a:solidFill>
                        <a:srgbClr val="D5DEEC"/>
                      </a:solidFill>
                      <a:prstDash val="solid"/>
                    </a:lnL>
                    <a:lnR w="9360">
                      <a:solidFill>
                        <a:srgbClr val="D5DEEC"/>
                      </a:solidFill>
                      <a:prstDash val="solid"/>
                    </a:lnR>
                    <a:lnT w="9360">
                      <a:solidFill>
                        <a:srgbClr val="D5DEEC"/>
                      </a:solidFill>
                      <a:prstDash val="solid"/>
                    </a:lnT>
                    <a:lnB w="9360">
                      <a:solidFill>
                        <a:srgbClr val="D5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080" tIns="73080" r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26262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—</a:t>
                      </a:r>
                      <a:endParaRPr lang="ru-RU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9360">
                      <a:solidFill>
                        <a:srgbClr val="D5DEEC"/>
                      </a:solidFill>
                      <a:prstDash val="solid"/>
                    </a:lnL>
                    <a:lnR w="9360">
                      <a:solidFill>
                        <a:srgbClr val="D5DEEC"/>
                      </a:solidFill>
                      <a:prstDash val="solid"/>
                    </a:lnR>
                    <a:lnT w="9360">
                      <a:solidFill>
                        <a:srgbClr val="D5DEEC"/>
                      </a:solidFill>
                      <a:prstDash val="solid"/>
                    </a:lnT>
                    <a:lnB w="9360">
                      <a:solidFill>
                        <a:srgbClr val="D5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5200">
                <a:tc>
                  <a:txBody>
                    <a:bodyPr lIns="73080" tIns="73080" r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26262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sandbox.publish / subscribe("Msg")</a:t>
                      </a:r>
                      <a:endParaRPr lang="ru-RU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9360">
                      <a:solidFill>
                        <a:srgbClr val="D5DEEC"/>
                      </a:solidFill>
                      <a:prstDash val="solid"/>
                    </a:lnL>
                    <a:lnR w="9360">
                      <a:solidFill>
                        <a:srgbClr val="D5DEEC"/>
                      </a:solidFill>
                      <a:prstDash val="solid"/>
                    </a:lnR>
                    <a:lnT w="9360">
                      <a:solidFill>
                        <a:srgbClr val="D5DEEC"/>
                      </a:solidFill>
                      <a:prstDash val="solid"/>
                    </a:lnT>
                    <a:lnB w="9360">
                      <a:solidFill>
                        <a:srgbClr val="D5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080" tIns="73080" r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26262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нет сообщения или не то направление</a:t>
                      </a:r>
                      <a:endParaRPr lang="ru-RU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9360">
                      <a:solidFill>
                        <a:srgbClr val="D5DEEC"/>
                      </a:solidFill>
                      <a:prstDash val="solid"/>
                    </a:lnL>
                    <a:lnR w="9360">
                      <a:solidFill>
                        <a:srgbClr val="D5DEEC"/>
                      </a:solidFill>
                      <a:prstDash val="solid"/>
                    </a:lnR>
                    <a:lnT w="9360">
                      <a:solidFill>
                        <a:srgbClr val="D5DEEC"/>
                      </a:solidFill>
                      <a:prstDash val="solid"/>
                    </a:lnT>
                    <a:lnB w="9360">
                      <a:solidFill>
                        <a:srgbClr val="D5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080" tIns="73080" r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26262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предупр.</a:t>
                      </a:r>
                      <a:endParaRPr lang="ru-RU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9360">
                      <a:solidFill>
                        <a:srgbClr val="D5DEEC"/>
                      </a:solidFill>
                      <a:prstDash val="solid"/>
                    </a:lnL>
                    <a:lnR w="9360">
                      <a:solidFill>
                        <a:srgbClr val="D5DEEC"/>
                      </a:solidFill>
                      <a:prstDash val="solid"/>
                    </a:lnR>
                    <a:lnT w="9360">
                      <a:solidFill>
                        <a:srgbClr val="D5DEEC"/>
                      </a:solidFill>
                      <a:prstDash val="solid"/>
                    </a:lnT>
                    <a:lnB w="9360">
                      <a:solidFill>
                        <a:srgbClr val="D5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080" tIns="73080" r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26262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—</a:t>
                      </a:r>
                      <a:endParaRPr lang="ru-RU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9360">
                      <a:solidFill>
                        <a:srgbClr val="D5DEEC"/>
                      </a:solidFill>
                      <a:prstDash val="solid"/>
                    </a:lnL>
                    <a:lnR w="9360">
                      <a:solidFill>
                        <a:srgbClr val="D5DEEC"/>
                      </a:solidFill>
                      <a:prstDash val="solid"/>
                    </a:lnR>
                    <a:lnT w="9360">
                      <a:solidFill>
                        <a:srgbClr val="D5DEEC"/>
                      </a:solidFill>
                      <a:prstDash val="solid"/>
                    </a:lnT>
                    <a:lnB w="9360">
                      <a:solidFill>
                        <a:srgbClr val="D5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5200">
                <a:tc>
                  <a:txBody>
                    <a:bodyPr lIns="73080" tIns="73080" r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26262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bindTo: "foo"</a:t>
                      </a:r>
                      <a:endParaRPr lang="ru-RU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9360">
                      <a:solidFill>
                        <a:srgbClr val="D5DEEC"/>
                      </a:solidFill>
                      <a:prstDash val="solid"/>
                    </a:lnL>
                    <a:lnR w="9360">
                      <a:solidFill>
                        <a:srgbClr val="D5DEEC"/>
                      </a:solidFill>
                      <a:prstDash val="solid"/>
                    </a:lnR>
                    <a:lnT w="9360">
                      <a:solidFill>
                        <a:srgbClr val="D5DEEC"/>
                      </a:solidFill>
                      <a:prstDash val="solid"/>
                    </a:lnT>
                    <a:lnB w="9360">
                      <a:solidFill>
                        <a:srgbClr val="D5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080" tIns="73080" r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26262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нет метода и атрибута</a:t>
                      </a:r>
                      <a:endParaRPr lang="ru-RU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9360">
                      <a:solidFill>
                        <a:srgbClr val="D5DEEC"/>
                      </a:solidFill>
                      <a:prstDash val="solid"/>
                    </a:lnL>
                    <a:lnR w="9360">
                      <a:solidFill>
                        <a:srgbClr val="D5DEEC"/>
                      </a:solidFill>
                      <a:prstDash val="solid"/>
                    </a:lnR>
                    <a:lnT w="9360">
                      <a:solidFill>
                        <a:srgbClr val="D5DEEC"/>
                      </a:solidFill>
                      <a:prstDash val="solid"/>
                    </a:lnT>
                    <a:lnB w="9360">
                      <a:solidFill>
                        <a:srgbClr val="D5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080" tIns="73080" r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26262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предупр.</a:t>
                      </a:r>
                      <a:endParaRPr lang="ru-RU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9360">
                      <a:solidFill>
                        <a:srgbClr val="D5DEEC"/>
                      </a:solidFill>
                      <a:prstDash val="solid"/>
                    </a:lnL>
                    <a:lnR w="9360">
                      <a:solidFill>
                        <a:srgbClr val="D5DEEC"/>
                      </a:solidFill>
                      <a:prstDash val="solid"/>
                    </a:lnR>
                    <a:lnT w="9360">
                      <a:solidFill>
                        <a:srgbClr val="D5DEEC"/>
                      </a:solidFill>
                      <a:prstDash val="solid"/>
                    </a:lnT>
                    <a:lnB w="9360">
                      <a:solidFill>
                        <a:srgbClr val="D5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080" tIns="73080" r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26262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создать метод или атрибут</a:t>
                      </a:r>
                      <a:endParaRPr lang="ru-RU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9360">
                      <a:solidFill>
                        <a:srgbClr val="D5DEEC"/>
                      </a:solidFill>
                      <a:prstDash val="solid"/>
                    </a:lnL>
                    <a:lnR w="9360">
                      <a:solidFill>
                        <a:srgbClr val="D5DEEC"/>
                      </a:solidFill>
                      <a:prstDash val="solid"/>
                    </a:lnR>
                    <a:lnT w="9360">
                      <a:solidFill>
                        <a:srgbClr val="D5DEEC"/>
                      </a:solidFill>
                      <a:prstDash val="solid"/>
                    </a:lnT>
                    <a:lnB w="9360">
                      <a:solidFill>
                        <a:srgbClr val="D5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3" name="Text 3"/>
          <p:cNvSpPr/>
          <p:nvPr/>
        </p:nvSpPr>
        <p:spPr>
          <a:xfrm>
            <a:off x="548640" y="5532120"/>
            <a:ext cx="1106388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«Существует» — это честная проверка: </a:t>
            </a:r>
            <a:r>
              <a:rPr lang="en-US" sz="1200" b="0" u="none" strike="noStrike">
                <a:solidFill>
                  <a:srgbClr val="26262E"/>
                </a:solidFill>
                <a:effectLst/>
                <a:uFillTx/>
                <a:latin typeface="Calibri"/>
                <a:ea typeface="Calibri"/>
              </a:rPr>
              <a:t>текущий файл + вся иерархия Structures + миксины + колонки entity + платформенные extend и runtime-объекты. Quick Fix вставляет заготовку прямо в нужную секцию схемы (methods / properties / attributes) — индекс обновляется сразу, без сохранения.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Text 0"/>
          <p:cNvSpPr/>
          <p:nvPr/>
        </p:nvSpPr>
        <p:spPr>
          <a:xfrm>
            <a:off x="548640" y="347400"/>
            <a:ext cx="110638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300" strike="noStrike">
                <a:solidFill>
                  <a:srgbClr val="6E7BB5"/>
                </a:solidFill>
                <a:effectLst/>
                <a:uFillTx/>
                <a:latin typeface="Calibri"/>
                <a:ea typeface="Calibri"/>
              </a:rPr>
              <a:t>ВОЗМОЖНОСТИ · 4 / 5 — НОВОЕ В 1.2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Text 1"/>
          <p:cNvSpPr/>
          <p:nvPr/>
        </p:nvSpPr>
        <p:spPr>
          <a:xfrm>
            <a:off x="548640" y="621720"/>
            <a:ext cx="1106388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900" b="1" u="none" strike="noStrike">
                <a:solidFill>
                  <a:srgbClr val="1E2761"/>
                </a:solidFill>
                <a:effectLst/>
                <a:uFillTx/>
                <a:latin typeface="Cambria"/>
                <a:ea typeface="Cambria"/>
              </a:rPr>
              <a:t>ESQ-запросы: подсказки по объектам и колонкам</a:t>
            </a:r>
            <a:endParaRPr lang="ru-RU" sz="2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Text 2"/>
          <p:cNvSpPr/>
          <p:nvPr/>
        </p:nvSpPr>
        <p:spPr>
          <a:xfrm>
            <a:off x="1138428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A6472"/>
                </a:solidFill>
                <a:effectLst/>
                <a:uFillTx/>
                <a:latin typeface="Calibri"/>
                <a:ea typeface="Calibri"/>
              </a:rPr>
              <a:t>8</a:t>
            </a:r>
            <a:endParaRPr lang="ru-RU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Text 3"/>
          <p:cNvSpPr/>
          <p:nvPr/>
        </p:nvSpPr>
        <p:spPr>
          <a:xfrm>
            <a:off x="594360" y="1554480"/>
            <a:ext cx="5394600" cy="420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26262E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26262E"/>
                </a:solidFill>
                <a:effectLst/>
                <a:uFillTx/>
                <a:latin typeface="Calibri"/>
                <a:ea typeface="Calibri"/>
              </a:rPr>
              <a:t>Имена объектов в rootSchemaName — для EntitySchemaQuery, InsertQuery, UpdateQuery, DeleteQuery</a:t>
            </a:r>
            <a:endParaRPr lang="ru-RU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26262E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26262E"/>
                </a:solidFill>
                <a:effectLst/>
                <a:uFillTx/>
                <a:latin typeface="Calibri"/>
                <a:ea typeface="Calibri"/>
              </a:rPr>
              <a:t>Колонки объекта в addColumn, фильтрах, setColumnValue и setParameterValue</a:t>
            </a:r>
            <a:endParaRPr lang="ru-RU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26262E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26262E"/>
                </a:solidFill>
                <a:effectLst/>
                <a:uFillTx/>
                <a:latin typeface="Calibri"/>
                <a:ea typeface="Calibri"/>
              </a:rPr>
              <a:t>Пути через lookup: каждый сегмент дополняется по метаданным связанного объекта</a:t>
            </a:r>
            <a:endParaRPr lang="ru-RU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26262E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26262E"/>
                </a:solidFill>
                <a:effectLst/>
                <a:uFillTx/>
                <a:latin typeface="Calibri"/>
                <a:ea typeface="Calibri"/>
              </a:rPr>
              <a:t>Hover и F12 по колонке — тип и переход к описанию (conf / metadata.json)</a:t>
            </a:r>
            <a:endParaRPr lang="ru-RU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26262E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26262E"/>
                </a:solidFill>
                <a:effectLst/>
                <a:uFillTx/>
                <a:latin typeface="Calibri"/>
                <a:ea typeface="Calibri"/>
              </a:rPr>
              <a:t>Предупреждение, если колонки нет в метаданных объекта</a:t>
            </a:r>
            <a:endParaRPr lang="ru-RU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26262E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26262E"/>
                </a:solidFill>
                <a:effectLst/>
                <a:uFillTx/>
                <a:latin typeface="Calibri"/>
                <a:ea typeface="Calibri"/>
              </a:rPr>
              <a:t>Автодополнение методов самого запроса по esq.</a:t>
            </a:r>
            <a:endParaRPr lang="ru-RU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Shape 4"/>
          <p:cNvSpPr/>
          <p:nvPr/>
        </p:nvSpPr>
        <p:spPr>
          <a:xfrm>
            <a:off x="6309360" y="1554480"/>
            <a:ext cx="5330520" cy="3291480"/>
          </a:xfrm>
          <a:prstGeom prst="roundRect">
            <a:avLst>
              <a:gd name="adj" fmla="val 2222"/>
            </a:avLst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" name="Text 5"/>
          <p:cNvSpPr/>
          <p:nvPr/>
        </p:nvSpPr>
        <p:spPr>
          <a:xfrm>
            <a:off x="6537960" y="1783080"/>
            <a:ext cx="4891680" cy="283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spcAft>
                <a:spcPts val="201"/>
              </a:spcAft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const esq = Ext.create(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201"/>
              </a:spcAft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"BPMSoft.EntitySchemaQuery",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201"/>
              </a:spcAft>
              <a:tabLst>
                <a:tab pos="0" algn="l"/>
              </a:tabLst>
            </a:pPr>
            <a:r>
              <a:rPr lang="en-US" sz="1200" b="0" u="none" strike="noStrike">
                <a:solidFill>
                  <a:srgbClr val="CADCFC"/>
                </a:solidFill>
                <a:effectLst/>
                <a:uFillTx/>
                <a:latin typeface="Courier New"/>
                <a:ea typeface="Courier New"/>
              </a:rPr>
              <a:t>  { rootSchemaName: "Contact" });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201"/>
              </a:spcAft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201"/>
              </a:spcAft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esq.addColumn(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201"/>
              </a:spcAft>
              <a:tabLst>
                <a:tab pos="0" algn="l"/>
              </a:tabLst>
            </a:pPr>
            <a:r>
              <a:rPr lang="en-US" sz="1200" b="0" u="none" strike="noStrike">
                <a:solidFill>
                  <a:srgbClr val="CADCFC"/>
                </a:solidFill>
                <a:effectLst/>
                <a:uFillTx/>
                <a:latin typeface="Courier New"/>
                <a:ea typeface="Courier New"/>
              </a:rPr>
              <a:t>  "Account.PrimaryContact.Name");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201"/>
              </a:spcAft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201"/>
              </a:spcAft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esq.filters.add(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201"/>
              </a:spcAft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esq.createColumnFilterWithParameter(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201"/>
              </a:spcAft>
              <a:tabLst>
                <a:tab pos="0" algn="l"/>
              </a:tabLst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    ComparisonType.EQUAL, "Type", id));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 6"/>
          <p:cNvSpPr/>
          <p:nvPr/>
        </p:nvSpPr>
        <p:spPr>
          <a:xfrm>
            <a:off x="6309360" y="5074920"/>
            <a:ext cx="533052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i="1" u="none" strike="noStrike">
                <a:solidFill>
                  <a:srgbClr val="5A6472"/>
                </a:solidFill>
                <a:effectLst/>
                <a:uFillTx/>
                <a:latin typeface="Calibri"/>
                <a:ea typeface="Calibri"/>
              </a:rPr>
              <a:t>Расширение отслеживает переменную запроса и знает её корневой объект — подсказки и проверки учитывают конкретную схему данных.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ext 0"/>
          <p:cNvSpPr/>
          <p:nvPr/>
        </p:nvSpPr>
        <p:spPr>
          <a:xfrm>
            <a:off x="548640" y="347400"/>
            <a:ext cx="110638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300" strike="noStrike">
                <a:solidFill>
                  <a:srgbClr val="6E7BB5"/>
                </a:solidFill>
                <a:effectLst/>
                <a:uFillTx/>
                <a:latin typeface="Calibri"/>
                <a:ea typeface="Calibri"/>
              </a:rPr>
              <a:t>ВОЗМОЖНОСТИ · 5 / 5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 1"/>
          <p:cNvSpPr/>
          <p:nvPr/>
        </p:nvSpPr>
        <p:spPr>
          <a:xfrm>
            <a:off x="548640" y="621720"/>
            <a:ext cx="1106388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900" b="1" u="none" strike="noStrike">
                <a:solidFill>
                  <a:srgbClr val="1E2761"/>
                </a:solidFill>
                <a:effectLst/>
                <a:uFillTx/>
                <a:latin typeface="Cambria"/>
                <a:ea typeface="Cambria"/>
              </a:rPr>
              <a:t>Единый стиль JavaScript — с автоисправлениями</a:t>
            </a:r>
            <a:endParaRPr lang="ru-RU" sz="2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 2"/>
          <p:cNvSpPr/>
          <p:nvPr/>
        </p:nvSpPr>
        <p:spPr>
          <a:xfrm>
            <a:off x="1138428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A6472"/>
                </a:solidFill>
                <a:effectLst/>
                <a:uFillTx/>
                <a:latin typeface="Calibri"/>
                <a:ea typeface="Calibri"/>
              </a:rPr>
              <a:t>9</a:t>
            </a:r>
            <a:endParaRPr lang="ru-RU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Shape 3"/>
          <p:cNvSpPr/>
          <p:nvPr/>
        </p:nvSpPr>
        <p:spPr>
          <a:xfrm>
            <a:off x="548640" y="1463040"/>
            <a:ext cx="5403600" cy="2148480"/>
          </a:xfrm>
          <a:prstGeom prst="roundRect">
            <a:avLst>
              <a:gd name="adj" fmla="val 3404"/>
            </a:avLst>
          </a:prstGeom>
          <a:solidFill>
            <a:srgbClr val="EEF3FB"/>
          </a:solidFill>
          <a:ln w="12700">
            <a:solidFill>
              <a:srgbClr val="D5DE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Shape 4"/>
          <p:cNvSpPr/>
          <p:nvPr/>
        </p:nvSpPr>
        <p:spPr>
          <a:xfrm>
            <a:off x="804600" y="1700640"/>
            <a:ext cx="402120" cy="402120"/>
          </a:xfrm>
          <a:prstGeom prst="ellipse">
            <a:avLst/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 5"/>
          <p:cNvSpPr/>
          <p:nvPr/>
        </p:nvSpPr>
        <p:spPr>
          <a:xfrm>
            <a:off x="804600" y="1700640"/>
            <a:ext cx="40212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{ }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Text 6"/>
          <p:cNvSpPr/>
          <p:nvPr/>
        </p:nvSpPr>
        <p:spPr>
          <a:xfrm>
            <a:off x="1353240" y="1664280"/>
            <a:ext cx="43520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Форматирование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 7"/>
          <p:cNvSpPr/>
          <p:nvPr/>
        </p:nvSpPr>
        <p:spPr>
          <a:xfrm>
            <a:off x="822960" y="2249280"/>
            <a:ext cx="4854960" cy="11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26262E"/>
                </a:solidFill>
                <a:effectLst/>
                <a:uFillTx/>
                <a:latin typeface="Calibri"/>
                <a:ea typeface="Calibri"/>
              </a:rPr>
              <a:t>Скобки K&amp;R (else на той же строке), тела if / for / while в фигурных скобках, break в switch, дублирующиеся case — с quick fix.</a:t>
            </a:r>
            <a:endParaRPr lang="ru-RU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Shape 8"/>
          <p:cNvSpPr/>
          <p:nvPr/>
        </p:nvSpPr>
        <p:spPr>
          <a:xfrm>
            <a:off x="6236280" y="1463040"/>
            <a:ext cx="5403600" cy="2148480"/>
          </a:xfrm>
          <a:prstGeom prst="roundRect">
            <a:avLst>
              <a:gd name="adj" fmla="val 3404"/>
            </a:avLst>
          </a:prstGeom>
          <a:solidFill>
            <a:srgbClr val="EEF3FB"/>
          </a:solidFill>
          <a:ln w="12700">
            <a:solidFill>
              <a:srgbClr val="D5DE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Shape 9"/>
          <p:cNvSpPr/>
          <p:nvPr/>
        </p:nvSpPr>
        <p:spPr>
          <a:xfrm>
            <a:off x="6492240" y="1700640"/>
            <a:ext cx="402120" cy="402120"/>
          </a:xfrm>
          <a:prstGeom prst="ellipse">
            <a:avLst/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 10"/>
          <p:cNvSpPr/>
          <p:nvPr/>
        </p:nvSpPr>
        <p:spPr>
          <a:xfrm>
            <a:off x="6492240" y="1700640"/>
            <a:ext cx="40212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==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 11"/>
          <p:cNvSpPr/>
          <p:nvPr/>
        </p:nvSpPr>
        <p:spPr>
          <a:xfrm>
            <a:off x="7040880" y="1664280"/>
            <a:ext cx="43520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Современный синтаксис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 12"/>
          <p:cNvSpPr/>
          <p:nvPr/>
        </p:nvSpPr>
        <p:spPr>
          <a:xfrm>
            <a:off x="6510600" y="2249280"/>
            <a:ext cx="4854960" cy="11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26262E"/>
                </a:solidFill>
                <a:effectLst/>
                <a:uFillTx/>
                <a:latin typeface="Calibri"/>
                <a:ea typeface="Calibri"/>
              </a:rPr>
              <a:t>var → let / const, === вместо ==, Number.isNaN вместо сравнения с NaN, ошибка при записи в const — всё исправляется в один клик.</a:t>
            </a:r>
            <a:endParaRPr lang="ru-RU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Shape 13"/>
          <p:cNvSpPr/>
          <p:nvPr/>
        </p:nvSpPr>
        <p:spPr>
          <a:xfrm>
            <a:off x="548640" y="3886200"/>
            <a:ext cx="5403600" cy="2148480"/>
          </a:xfrm>
          <a:prstGeom prst="roundRect">
            <a:avLst>
              <a:gd name="adj" fmla="val 3404"/>
            </a:avLst>
          </a:prstGeom>
          <a:solidFill>
            <a:srgbClr val="EEF3FB"/>
          </a:solidFill>
          <a:ln w="12700">
            <a:solidFill>
              <a:srgbClr val="D5DE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Shape 14"/>
          <p:cNvSpPr/>
          <p:nvPr/>
        </p:nvSpPr>
        <p:spPr>
          <a:xfrm>
            <a:off x="804600" y="4123800"/>
            <a:ext cx="402120" cy="402120"/>
          </a:xfrm>
          <a:prstGeom prst="ellipse">
            <a:avLst/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 15"/>
          <p:cNvSpPr/>
          <p:nvPr/>
        </p:nvSpPr>
        <p:spPr>
          <a:xfrm>
            <a:off x="804600" y="4123800"/>
            <a:ext cx="40212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✕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Text 16"/>
          <p:cNvSpPr/>
          <p:nvPr/>
        </p:nvSpPr>
        <p:spPr>
          <a:xfrm>
            <a:off x="1353240" y="4087440"/>
            <a:ext cx="43520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Мёртвый код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 17"/>
          <p:cNvSpPr/>
          <p:nvPr/>
        </p:nvSpPr>
        <p:spPr>
          <a:xfrm>
            <a:off x="822960" y="4672440"/>
            <a:ext cx="4854960" cy="11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26262E"/>
                </a:solidFill>
                <a:effectLst/>
                <a:uFillTx/>
                <a:latin typeface="Calibri"/>
                <a:ea typeface="Calibri"/>
              </a:rPr>
              <a:t>Неиспользуемые переменные, параметры и члены схемы (methods / attributes / messages), код после return, console.* и debugger, дубли ключей и diff-блоков.</a:t>
            </a:r>
            <a:endParaRPr lang="ru-RU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Shape 18"/>
          <p:cNvSpPr/>
          <p:nvPr/>
        </p:nvSpPr>
        <p:spPr>
          <a:xfrm>
            <a:off x="6236280" y="3886200"/>
            <a:ext cx="5403600" cy="2148480"/>
          </a:xfrm>
          <a:prstGeom prst="roundRect">
            <a:avLst>
              <a:gd name="adj" fmla="val 3404"/>
            </a:avLst>
          </a:prstGeom>
          <a:solidFill>
            <a:srgbClr val="EEF3FB"/>
          </a:solidFill>
          <a:ln w="12700">
            <a:solidFill>
              <a:srgbClr val="D5DE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Shape 19"/>
          <p:cNvSpPr/>
          <p:nvPr/>
        </p:nvSpPr>
        <p:spPr>
          <a:xfrm>
            <a:off x="6492240" y="4123800"/>
            <a:ext cx="402120" cy="402120"/>
          </a:xfrm>
          <a:prstGeom prst="ellipse">
            <a:avLst/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 20"/>
          <p:cNvSpPr/>
          <p:nvPr/>
        </p:nvSpPr>
        <p:spPr>
          <a:xfrm>
            <a:off x="6492240" y="4123800"/>
            <a:ext cx="40212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aB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Text 21"/>
          <p:cNvSpPr/>
          <p:nvPr/>
        </p:nvSpPr>
        <p:spPr>
          <a:xfrm>
            <a:off x="7040880" y="4087440"/>
            <a:ext cx="43520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Именование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 22"/>
          <p:cNvSpPr/>
          <p:nvPr/>
        </p:nvSpPr>
        <p:spPr>
          <a:xfrm>
            <a:off x="6510600" y="4672440"/>
            <a:ext cx="4854960" cy="11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26262E"/>
                </a:solidFill>
                <a:effectLst/>
                <a:uFillTx/>
                <a:latin typeface="Calibri"/>
                <a:ea typeface="Calibri"/>
              </a:rPr>
              <a:t>camelCase для локальных переменных, параметров и методов. Учитывает специфику: параметры фабрики define и имена с префиксом _ не трогаются.</a:t>
            </a:r>
            <a:endParaRPr lang="ru-RU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 23"/>
          <p:cNvSpPr/>
          <p:nvPr/>
        </p:nvSpPr>
        <p:spPr>
          <a:xfrm>
            <a:off x="548640" y="6172200"/>
            <a:ext cx="110638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i="1" u="none" strike="noStrike">
                <a:solidFill>
                  <a:srgbClr val="5A6472"/>
                </a:solidFill>
                <a:effectLst/>
                <a:uFillTx/>
                <a:latin typeface="Calibri"/>
                <a:ea typeface="Calibri"/>
              </a:rPr>
              <a:t>Проверяются только редактируемые файлы — Autogenerated, Resources/ui и conf/content пропускаются. Отключается настройкой bpmsoft.styleDiagnostics.</a:t>
            </a:r>
            <a:endParaRPr lang="ru-RU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Text 0"/>
          <p:cNvSpPr/>
          <p:nvPr/>
        </p:nvSpPr>
        <p:spPr>
          <a:xfrm>
            <a:off x="548640" y="347400"/>
            <a:ext cx="110638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300" strike="noStrike">
                <a:solidFill>
                  <a:srgbClr val="6E7BB5"/>
                </a:solidFill>
                <a:effectLst/>
                <a:uFillTx/>
                <a:latin typeface="Calibri"/>
                <a:ea typeface="Calibri"/>
              </a:rPr>
              <a:t>БОНУС ДЛЯ BACKEND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Text 1"/>
          <p:cNvSpPr/>
          <p:nvPr/>
        </p:nvSpPr>
        <p:spPr>
          <a:xfrm>
            <a:off x="548640" y="621720"/>
            <a:ext cx="1106388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900" b="1" u="none" strike="noStrike">
                <a:solidFill>
                  <a:srgbClr val="1E2761"/>
                </a:solidFill>
                <a:effectLst/>
                <a:uFillTx/>
                <a:latin typeface="Cambria"/>
                <a:ea typeface="Cambria"/>
              </a:rPr>
              <a:t>C#: стиль кода и рабочее окружение из коробки</a:t>
            </a:r>
            <a:endParaRPr lang="ru-RU" sz="2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Text 2"/>
          <p:cNvSpPr/>
          <p:nvPr/>
        </p:nvSpPr>
        <p:spPr>
          <a:xfrm>
            <a:off x="1138428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A6472"/>
                </a:solidFill>
                <a:effectLst/>
                <a:uFillTx/>
                <a:latin typeface="Calibri"/>
                <a:ea typeface="Calibri"/>
              </a:rPr>
              <a:t>10</a:t>
            </a:r>
            <a:endParaRPr lang="ru-RU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 3"/>
          <p:cNvSpPr/>
          <p:nvPr/>
        </p:nvSpPr>
        <p:spPr>
          <a:xfrm>
            <a:off x="548640" y="1463040"/>
            <a:ext cx="55774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Контроль стиля C#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 4"/>
          <p:cNvSpPr/>
          <p:nvPr/>
        </p:nvSpPr>
        <p:spPr>
          <a:xfrm>
            <a:off x="594360" y="1920240"/>
            <a:ext cx="5531760" cy="393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26262E"/>
              </a:buClr>
              <a:buFont typeface="Symbol" charset="2"/>
              <a:buChar char=""/>
            </a:pPr>
            <a:r>
              <a:rPr lang="en-US" sz="1250" b="0" u="none" strike="noStrike">
                <a:solidFill>
                  <a:srgbClr val="26262E"/>
                </a:solidFill>
                <a:effectLst/>
                <a:uFillTx/>
                <a:latin typeface="Calibri"/>
                <a:ea typeface="Calibri"/>
              </a:rPr>
              <a:t>скобки Allman — { на новой строке (ровно наоборот от JS)</a:t>
            </a:r>
            <a:endParaRPr lang="ru-RU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26262E"/>
              </a:buClr>
              <a:buFont typeface="Symbol" charset="2"/>
              <a:buChar char=""/>
            </a:pPr>
            <a:r>
              <a:rPr lang="en-US" sz="1250" b="0" u="none" strike="noStrike">
                <a:solidFill>
                  <a:srgbClr val="26262E"/>
                </a:solidFill>
                <a:effectLst/>
                <a:uFillTx/>
                <a:latin typeface="Calibri"/>
                <a:ea typeface="Calibri"/>
              </a:rPr>
              <a:t>else / catch / finally — на новой строке</a:t>
            </a:r>
            <a:endParaRPr lang="ru-RU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26262E"/>
              </a:buClr>
              <a:buFont typeface="Symbol" charset="2"/>
              <a:buChar char=""/>
            </a:pPr>
            <a:r>
              <a:rPr lang="en-US" sz="1250" b="0" u="none" strike="noStrike">
                <a:solidFill>
                  <a:srgbClr val="26262E"/>
                </a:solidFill>
                <a:effectLst/>
                <a:uFillTx/>
                <a:latin typeface="Calibri"/>
                <a:ea typeface="Calibri"/>
              </a:rPr>
              <a:t>PascalCase для методов, свойств и типов; IPascalCase для интерфейсов</a:t>
            </a:r>
            <a:endParaRPr lang="ru-RU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26262E"/>
              </a:buClr>
              <a:buFont typeface="Symbol" charset="2"/>
              <a:buChar char=""/>
            </a:pPr>
            <a:r>
              <a:rPr lang="en-US" sz="1250" b="0" u="none" strike="noStrike">
                <a:solidFill>
                  <a:srgbClr val="26262E"/>
                </a:solidFill>
                <a:effectLst/>
                <a:uFillTx/>
                <a:latin typeface="Calibri"/>
                <a:ea typeface="Calibri"/>
              </a:rPr>
              <a:t>_camelCase для приватных полей, camelCase для локальных</a:t>
            </a:r>
            <a:endParaRPr lang="ru-RU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26262E"/>
              </a:buClr>
              <a:buFont typeface="Symbol" charset="2"/>
              <a:buChar char=""/>
            </a:pPr>
            <a:r>
              <a:rPr lang="en-US" sz="1250" b="0" u="none" strike="noStrike">
                <a:solidFill>
                  <a:srgbClr val="26262E"/>
                </a:solidFill>
                <a:effectLst/>
                <a:uFillTx/>
                <a:latin typeface="Calibri"/>
                <a:ea typeface="Calibri"/>
              </a:rPr>
              <a:t>is null / is not null вместо == null</a:t>
            </a:r>
            <a:endParaRPr lang="ru-RU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26262E"/>
              </a:buClr>
              <a:buFont typeface="Symbol" charset="2"/>
              <a:buChar char=""/>
            </a:pPr>
            <a:r>
              <a:rPr lang="en-US" sz="1250" b="0" u="none" strike="noStrike">
                <a:solidFill>
                  <a:srgbClr val="26262E"/>
                </a:solidFill>
                <a:effectLst/>
                <a:uFillTx/>
                <a:latin typeface="Calibri"/>
                <a:ea typeface="Calibri"/>
              </a:rPr>
              <a:t>суффикс Async для async Task, пустой catch, провалы в switch</a:t>
            </a:r>
            <a:endParaRPr lang="ru-RU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Shape 5"/>
          <p:cNvSpPr/>
          <p:nvPr/>
        </p:nvSpPr>
        <p:spPr>
          <a:xfrm>
            <a:off x="6492240" y="1463040"/>
            <a:ext cx="5147640" cy="4205880"/>
          </a:xfrm>
          <a:prstGeom prst="roundRect">
            <a:avLst>
              <a:gd name="adj" fmla="val 1739"/>
            </a:avLst>
          </a:prstGeom>
          <a:solidFill>
            <a:srgbClr val="EEF3FB"/>
          </a:solidFill>
          <a:ln w="12700">
            <a:solidFill>
              <a:srgbClr val="D5DE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Text 6"/>
          <p:cNvSpPr/>
          <p:nvPr/>
        </p:nvSpPr>
        <p:spPr>
          <a:xfrm>
            <a:off x="6766560" y="1664280"/>
            <a:ext cx="46173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Окружение без ручной настройки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 7"/>
          <p:cNvSpPr/>
          <p:nvPr/>
        </p:nvSpPr>
        <p:spPr>
          <a:xfrm>
            <a:off x="6766560" y="2148840"/>
            <a:ext cx="4617360" cy="329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spcAft>
                <a:spcPts val="1001"/>
              </a:spcAft>
              <a:tabLst>
                <a:tab pos="0" algn="l"/>
              </a:tabLst>
            </a:pPr>
            <a:r>
              <a:rPr lang="en-US" sz="1250" b="0" u="none" strike="noStrike">
                <a:solidFill>
                  <a:srgbClr val="26262E"/>
                </a:solidFill>
                <a:effectLst/>
                <a:uFillTx/>
                <a:latin typeface="Calibri"/>
                <a:ea typeface="Calibri"/>
              </a:rPr>
              <a:t>Языковой сервер C# не поднимает проект без solution-файла — а в поставке BPMSoft его нет.</a:t>
            </a:r>
            <a:endParaRPr lang="ru-RU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1001"/>
              </a:spcAft>
              <a:tabLst>
                <a:tab pos="0" algn="l"/>
              </a:tabLst>
            </a:pPr>
            <a:r>
              <a:rPr lang="en-US" sz="1250" b="0" u="none" strike="noStrike">
                <a:solidFill>
                  <a:srgbClr val="26262E"/>
                </a:solidFill>
                <a:effectLst/>
                <a:uFillTx/>
                <a:latin typeface="Calibri"/>
                <a:ea typeface="Calibri"/>
              </a:rPr>
              <a:t>Расширение само создаёт минимальный BPMSoft.Configuration.Dev.sln рядом с csproj — из любого открытого корня: приложение, BPMSoft.Configuration, Pkg или отдельный пакет.</a:t>
            </a:r>
            <a:endParaRPr lang="ru-RU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26262E"/>
                </a:solidFill>
                <a:effectLst/>
                <a:uFillTx/>
                <a:latin typeface="Calibri"/>
                <a:ea typeface="Calibri"/>
              </a:rPr>
              <a:t>Если расширения C# нет, предлагает установить ms-dotnettools.csharp вместе с .NET Install Tool.</a:t>
            </a:r>
            <a:endParaRPr lang="ru-RU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Text 0"/>
          <p:cNvSpPr/>
          <p:nvPr/>
        </p:nvSpPr>
        <p:spPr>
          <a:xfrm>
            <a:off x="548640" y="347400"/>
            <a:ext cx="110638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300" strike="noStrike">
                <a:solidFill>
                  <a:srgbClr val="6E7BB5"/>
                </a:solidFill>
                <a:effectLst/>
                <a:uFillTx/>
                <a:latin typeface="Calibri"/>
                <a:ea typeface="Calibri"/>
              </a:rPr>
              <a:t>ГИБКОСТЬ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Text 1"/>
          <p:cNvSpPr/>
          <p:nvPr/>
        </p:nvSpPr>
        <p:spPr>
          <a:xfrm>
            <a:off x="548640" y="621720"/>
            <a:ext cx="1106388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900" b="1" u="none" strike="noStrike">
                <a:solidFill>
                  <a:srgbClr val="1E2761"/>
                </a:solidFill>
                <a:effectLst/>
                <a:uFillTx/>
                <a:latin typeface="Cambria"/>
                <a:ea typeface="Cambria"/>
              </a:rPr>
              <a:t>Настройки — всё включено по умолчанию</a:t>
            </a:r>
            <a:endParaRPr lang="ru-RU" sz="2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Text 2"/>
          <p:cNvSpPr/>
          <p:nvPr/>
        </p:nvSpPr>
        <p:spPr>
          <a:xfrm>
            <a:off x="1138428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A6472"/>
                </a:solidFill>
                <a:effectLst/>
                <a:uFillTx/>
                <a:latin typeface="Calibri"/>
                <a:ea typeface="Calibri"/>
              </a:rPr>
              <a:t>11</a:t>
            </a:r>
            <a:endParaRPr lang="ru-RU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36" name="Table 0"/>
          <p:cNvGraphicFramePr/>
          <p:nvPr/>
        </p:nvGraphicFramePr>
        <p:xfrm>
          <a:off x="548640" y="1463040"/>
          <a:ext cx="11091240" cy="2514600"/>
        </p:xfrm>
        <a:graphic>
          <a:graphicData uri="http://schemas.openxmlformats.org/drawingml/2006/table">
            <a:tbl>
              <a:tblPr/>
              <a:tblGrid>
                <a:gridCol w="3840480"/>
                <a:gridCol w="1005840"/>
                <a:gridCol w="6245280"/>
              </a:tblGrid>
              <a:tr h="502920">
                <a:tc>
                  <a:txBody>
                    <a:bodyPr lIns="73080" tIns="73080" r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Настройка</a:t>
                      </a:r>
                      <a:endParaRPr lang="ru-RU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9360">
                      <a:solidFill>
                        <a:srgbClr val="D5DEEC"/>
                      </a:solidFill>
                      <a:prstDash val="solid"/>
                    </a:lnL>
                    <a:lnR w="9360">
                      <a:solidFill>
                        <a:srgbClr val="D5DEEC"/>
                      </a:solidFill>
                      <a:prstDash val="solid"/>
                    </a:lnR>
                    <a:lnT w="9360">
                      <a:solidFill>
                        <a:srgbClr val="D5DEEC"/>
                      </a:solidFill>
                      <a:prstDash val="solid"/>
                    </a:lnT>
                    <a:lnB w="9360">
                      <a:solidFill>
                        <a:srgbClr val="D5DEEC"/>
                      </a:solidFill>
                      <a:prstDash val="soli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 lIns="73080" tIns="73080" r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Default</a:t>
                      </a:r>
                      <a:endParaRPr lang="ru-RU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9360">
                      <a:solidFill>
                        <a:srgbClr val="D5DEEC"/>
                      </a:solidFill>
                      <a:prstDash val="solid"/>
                    </a:lnL>
                    <a:lnR w="9360">
                      <a:solidFill>
                        <a:srgbClr val="D5DEEC"/>
                      </a:solidFill>
                      <a:prstDash val="solid"/>
                    </a:lnR>
                    <a:lnT w="9360">
                      <a:solidFill>
                        <a:srgbClr val="D5DEEC"/>
                      </a:solidFill>
                      <a:prstDash val="solid"/>
                    </a:lnT>
                    <a:lnB w="9360">
                      <a:solidFill>
                        <a:srgbClr val="D5DEEC"/>
                      </a:solidFill>
                      <a:prstDash val="soli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 lIns="73080" tIns="73080" r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Что делает</a:t>
                      </a:r>
                      <a:endParaRPr lang="ru-RU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9360">
                      <a:solidFill>
                        <a:srgbClr val="D5DEEC"/>
                      </a:solidFill>
                      <a:prstDash val="solid"/>
                    </a:lnL>
                    <a:lnR w="9360">
                      <a:solidFill>
                        <a:srgbClr val="D5DEEC"/>
                      </a:solidFill>
                      <a:prstDash val="solid"/>
                    </a:lnR>
                    <a:lnT w="9360">
                      <a:solidFill>
                        <a:srgbClr val="D5DEEC"/>
                      </a:solidFill>
                      <a:prstDash val="solid"/>
                    </a:lnT>
                    <a:lnB w="9360">
                      <a:solidFill>
                        <a:srgbClr val="D5DEEC"/>
                      </a:solidFill>
                      <a:prstDash val="solid"/>
                    </a:lnB>
                    <a:solidFill>
                      <a:srgbClr val="1E2761"/>
                    </a:solidFill>
                  </a:tcPr>
                </a:tc>
              </a:tr>
              <a:tr h="502920">
                <a:tc>
                  <a:txBody>
                    <a:bodyPr lIns="73080" tIns="73080" r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26262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bpmsoft.enablePlatformStubs</a:t>
                      </a:r>
                      <a:endParaRPr lang="ru-RU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9360">
                      <a:solidFill>
                        <a:srgbClr val="D5DEEC"/>
                      </a:solidFill>
                      <a:prstDash val="solid"/>
                    </a:lnL>
                    <a:lnR w="9360">
                      <a:solidFill>
                        <a:srgbClr val="D5DEEC"/>
                      </a:solidFill>
                      <a:prstDash val="solid"/>
                    </a:lnR>
                    <a:lnT w="9360">
                      <a:solidFill>
                        <a:srgbClr val="D5DEEC"/>
                      </a:solidFill>
                      <a:prstDash val="solid"/>
                    </a:lnT>
                    <a:lnB w="9360">
                      <a:solidFill>
                        <a:srgbClr val="D5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080" tIns="73080" r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26262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true</a:t>
                      </a:r>
                      <a:endParaRPr lang="ru-RU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9360">
                      <a:solidFill>
                        <a:srgbClr val="D5DEEC"/>
                      </a:solidFill>
                      <a:prstDash val="solid"/>
                    </a:lnL>
                    <a:lnR w="9360">
                      <a:solidFill>
                        <a:srgbClr val="D5DEEC"/>
                      </a:solidFill>
                      <a:prstDash val="solid"/>
                    </a:lnR>
                    <a:lnT w="9360">
                      <a:solidFill>
                        <a:srgbClr val="D5DEEC"/>
                      </a:solidFill>
                      <a:prstDash val="solid"/>
                    </a:lnT>
                    <a:lnB w="9360">
                      <a:solidFill>
                        <a:srgbClr val="D5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080" tIns="73080" r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26262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Статические подсказки BPMSoft.* — enums и частые API платформы</a:t>
                      </a:r>
                      <a:endParaRPr lang="ru-RU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9360">
                      <a:solidFill>
                        <a:srgbClr val="D5DEEC"/>
                      </a:solidFill>
                      <a:prstDash val="solid"/>
                    </a:lnL>
                    <a:lnR w="9360">
                      <a:solidFill>
                        <a:srgbClr val="D5DEEC"/>
                      </a:solidFill>
                      <a:prstDash val="solid"/>
                    </a:lnR>
                    <a:lnT w="9360">
                      <a:solidFill>
                        <a:srgbClr val="D5DEEC"/>
                      </a:solidFill>
                      <a:prstDash val="solid"/>
                    </a:lnT>
                    <a:lnB w="9360">
                      <a:solidFill>
                        <a:srgbClr val="D5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lIns="73080" tIns="73080" r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26262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bpmsoft.preferIndexedCompletions</a:t>
                      </a:r>
                      <a:endParaRPr lang="ru-RU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9360">
                      <a:solidFill>
                        <a:srgbClr val="D5DEEC"/>
                      </a:solidFill>
                      <a:prstDash val="solid"/>
                    </a:lnL>
                    <a:lnR w="9360">
                      <a:solidFill>
                        <a:srgbClr val="D5DEEC"/>
                      </a:solidFill>
                      <a:prstDash val="solid"/>
                    </a:lnR>
                    <a:lnT w="9360">
                      <a:solidFill>
                        <a:srgbClr val="D5DEEC"/>
                      </a:solidFill>
                      <a:prstDash val="solid"/>
                    </a:lnT>
                    <a:lnB w="9360">
                      <a:solidFill>
                        <a:srgbClr val="D5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080" tIns="73080" r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26262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true</a:t>
                      </a:r>
                      <a:endParaRPr lang="ru-RU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9360">
                      <a:solidFill>
                        <a:srgbClr val="D5DEEC"/>
                      </a:solidFill>
                      <a:prstDash val="solid"/>
                    </a:lnL>
                    <a:lnR w="9360">
                      <a:solidFill>
                        <a:srgbClr val="D5DEEC"/>
                      </a:solidFill>
                      <a:prstDash val="solid"/>
                    </a:lnR>
                    <a:lnT w="9360">
                      <a:solidFill>
                        <a:srgbClr val="D5DEEC"/>
                      </a:solidFill>
                      <a:prstDash val="solid"/>
                    </a:lnT>
                    <a:lnB w="9360">
                      <a:solidFill>
                        <a:srgbClr val="D5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080" tIns="73080" r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26262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Поднимает индексированные подсказки выше словарных (правит workspace-settings)</a:t>
                      </a:r>
                      <a:endParaRPr lang="ru-RU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9360">
                      <a:solidFill>
                        <a:srgbClr val="D5DEEC"/>
                      </a:solidFill>
                      <a:prstDash val="solid"/>
                    </a:lnL>
                    <a:lnR w="9360">
                      <a:solidFill>
                        <a:srgbClr val="D5DEEC"/>
                      </a:solidFill>
                      <a:prstDash val="solid"/>
                    </a:lnR>
                    <a:lnT w="9360">
                      <a:solidFill>
                        <a:srgbClr val="D5DEEC"/>
                      </a:solidFill>
                      <a:prstDash val="solid"/>
                    </a:lnT>
                    <a:lnB w="9360">
                      <a:solidFill>
                        <a:srgbClr val="D5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lIns="73080" tIns="73080" r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26262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bpmsoft.styleDiagnostics</a:t>
                      </a:r>
                      <a:endParaRPr lang="ru-RU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9360">
                      <a:solidFill>
                        <a:srgbClr val="D5DEEC"/>
                      </a:solidFill>
                      <a:prstDash val="solid"/>
                    </a:lnL>
                    <a:lnR w="9360">
                      <a:solidFill>
                        <a:srgbClr val="D5DEEC"/>
                      </a:solidFill>
                      <a:prstDash val="solid"/>
                    </a:lnR>
                    <a:lnT w="9360">
                      <a:solidFill>
                        <a:srgbClr val="D5DEEC"/>
                      </a:solidFill>
                      <a:prstDash val="solid"/>
                    </a:lnT>
                    <a:lnB w="9360">
                      <a:solidFill>
                        <a:srgbClr val="D5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080" tIns="73080" r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26262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true</a:t>
                      </a:r>
                      <a:endParaRPr lang="ru-RU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9360">
                      <a:solidFill>
                        <a:srgbClr val="D5DEEC"/>
                      </a:solidFill>
                      <a:prstDash val="solid"/>
                    </a:lnL>
                    <a:lnR w="9360">
                      <a:solidFill>
                        <a:srgbClr val="D5DEEC"/>
                      </a:solidFill>
                      <a:prstDash val="solid"/>
                    </a:lnR>
                    <a:lnT w="9360">
                      <a:solidFill>
                        <a:srgbClr val="D5DEEC"/>
                      </a:solidFill>
                      <a:prstDash val="solid"/>
                    </a:lnT>
                    <a:lnB w="9360">
                      <a:solidFill>
                        <a:srgbClr val="D5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080" tIns="73080" r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26262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Проверка стиля JS и C#; выключается одним флагом</a:t>
                      </a:r>
                      <a:endParaRPr lang="ru-RU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9360">
                      <a:solidFill>
                        <a:srgbClr val="D5DEEC"/>
                      </a:solidFill>
                      <a:prstDash val="solid"/>
                    </a:lnL>
                    <a:lnR w="9360">
                      <a:solidFill>
                        <a:srgbClr val="D5DEEC"/>
                      </a:solidFill>
                      <a:prstDash val="solid"/>
                    </a:lnR>
                    <a:lnT w="9360">
                      <a:solidFill>
                        <a:srgbClr val="D5DEEC"/>
                      </a:solidFill>
                      <a:prstDash val="solid"/>
                    </a:lnT>
                    <a:lnB w="9360">
                      <a:solidFill>
                        <a:srgbClr val="D5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lIns="73080" tIns="73080" r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26262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bpmsoft.pkgGlob / autogeneratedGlob / platformUiGlob</a:t>
                      </a:r>
                      <a:endParaRPr lang="ru-RU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9360">
                      <a:solidFill>
                        <a:srgbClr val="D5DEEC"/>
                      </a:solidFill>
                      <a:prstDash val="solid"/>
                    </a:lnL>
                    <a:lnR w="9360">
                      <a:solidFill>
                        <a:srgbClr val="D5DEEC"/>
                      </a:solidFill>
                      <a:prstDash val="solid"/>
                    </a:lnR>
                    <a:lnT w="9360">
                      <a:solidFill>
                        <a:srgbClr val="D5DEEC"/>
                      </a:solidFill>
                      <a:prstDash val="solid"/>
                    </a:lnT>
                    <a:lnB w="9360">
                      <a:solidFill>
                        <a:srgbClr val="D5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080" tIns="73080" r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26262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глобы</a:t>
                      </a:r>
                      <a:endParaRPr lang="ru-RU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9360">
                      <a:solidFill>
                        <a:srgbClr val="D5DEEC"/>
                      </a:solidFill>
                      <a:prstDash val="solid"/>
                    </a:lnL>
                    <a:lnR w="9360">
                      <a:solidFill>
                        <a:srgbClr val="D5DEEC"/>
                      </a:solidFill>
                      <a:prstDash val="solid"/>
                    </a:lnR>
                    <a:lnT w="9360">
                      <a:solidFill>
                        <a:srgbClr val="D5DEEC"/>
                      </a:solidFill>
                      <a:prstDash val="solid"/>
                    </a:lnT>
                    <a:lnB w="9360">
                      <a:solidFill>
                        <a:srgbClr val="D5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3080" tIns="73080" rIns="73080" bIns="730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26262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Пути индексации в fallback-режиме, если layout проекта не определился</a:t>
                      </a:r>
                      <a:endParaRPr lang="ru-RU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3080" marR="73080" marT="73080" marB="73080">
                    <a:lnL w="9360">
                      <a:solidFill>
                        <a:srgbClr val="D5DEEC"/>
                      </a:solidFill>
                      <a:prstDash val="solid"/>
                    </a:lnL>
                    <a:lnR w="9360">
                      <a:solidFill>
                        <a:srgbClr val="D5DEEC"/>
                      </a:solidFill>
                      <a:prstDash val="solid"/>
                    </a:lnR>
                    <a:lnT w="9360">
                      <a:solidFill>
                        <a:srgbClr val="D5DEEC"/>
                      </a:solidFill>
                      <a:prstDash val="solid"/>
                    </a:lnT>
                    <a:lnB w="9360">
                      <a:solidFill>
                        <a:srgbClr val="D5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7" name="Shape 3"/>
          <p:cNvSpPr/>
          <p:nvPr/>
        </p:nvSpPr>
        <p:spPr>
          <a:xfrm>
            <a:off x="548640" y="4434840"/>
            <a:ext cx="11091240" cy="1554120"/>
          </a:xfrm>
          <a:prstGeom prst="roundRect">
            <a:avLst>
              <a:gd name="adj" fmla="val 4706"/>
            </a:avLst>
          </a:prstGeom>
          <a:solidFill>
            <a:srgbClr val="EEF3FB"/>
          </a:solidFill>
          <a:ln w="12700">
            <a:solidFill>
              <a:srgbClr val="D5DE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Text 4"/>
          <p:cNvSpPr/>
          <p:nvPr/>
        </p:nvSpPr>
        <p:spPr>
          <a:xfrm>
            <a:off x="822960" y="4617720"/>
            <a:ext cx="10515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Какую папку открывать — любую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Text 5"/>
          <p:cNvSpPr/>
          <p:nvPr/>
        </p:nvSpPr>
        <p:spPr>
          <a:xfrm>
            <a:off x="822960" y="5010840"/>
            <a:ext cx="1056096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26262E"/>
                </a:solidFill>
                <a:effectLst/>
                <a:uFillTx/>
                <a:latin typeface="Calibri"/>
                <a:ea typeface="Calibri"/>
              </a:rPr>
              <a:t>Корень приложения, BPMSoft.Configuration, Pkg или отдельный пакет — расширение само определяет layout, а conf/, Resources/ и Autogenerated/ находит даже вне открытой папки.</a:t>
            </a:r>
            <a:endParaRPr lang="ru-RU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Text 0"/>
          <p:cNvSpPr/>
          <p:nvPr/>
        </p:nvSpPr>
        <p:spPr>
          <a:xfrm>
            <a:off x="548640" y="347400"/>
            <a:ext cx="110638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300" strike="noStrike">
                <a:solidFill>
                  <a:srgbClr val="6E7BB5"/>
                </a:solidFill>
                <a:effectLst/>
                <a:uFillTx/>
                <a:latin typeface="Calibri"/>
                <a:ea typeface="Calibri"/>
              </a:rPr>
              <a:t>НАЧАЛО РАБОТЫ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Text 1"/>
          <p:cNvSpPr/>
          <p:nvPr/>
        </p:nvSpPr>
        <p:spPr>
          <a:xfrm>
            <a:off x="548640" y="621720"/>
            <a:ext cx="1106388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900" b="1" u="none" strike="noStrike">
                <a:solidFill>
                  <a:srgbClr val="1E2761"/>
                </a:solidFill>
                <a:effectLst/>
                <a:uFillTx/>
                <a:latin typeface="Cambria"/>
                <a:ea typeface="Cambria"/>
              </a:rPr>
              <a:t>Установка за минуту, разработка — стандартная</a:t>
            </a:r>
            <a:endParaRPr lang="ru-RU" sz="2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 2"/>
          <p:cNvSpPr/>
          <p:nvPr/>
        </p:nvSpPr>
        <p:spPr>
          <a:xfrm>
            <a:off x="1138428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A6472"/>
                </a:solidFill>
                <a:effectLst/>
                <a:uFillTx/>
                <a:latin typeface="Calibri"/>
                <a:ea typeface="Calibri"/>
              </a:rPr>
              <a:t>12</a:t>
            </a:r>
            <a:endParaRPr lang="ru-RU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Shape 3"/>
          <p:cNvSpPr/>
          <p:nvPr/>
        </p:nvSpPr>
        <p:spPr>
          <a:xfrm>
            <a:off x="548640" y="1463040"/>
            <a:ext cx="5403600" cy="4480200"/>
          </a:xfrm>
          <a:prstGeom prst="roundRect">
            <a:avLst>
              <a:gd name="adj" fmla="val 1633"/>
            </a:avLst>
          </a:prstGeom>
          <a:solidFill>
            <a:srgbClr val="EEF3FB"/>
          </a:solidFill>
          <a:ln w="12700">
            <a:solidFill>
              <a:srgbClr val="D5DE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Text 4"/>
          <p:cNvSpPr/>
          <p:nvPr/>
        </p:nvSpPr>
        <p:spPr>
          <a:xfrm>
            <a:off x="822960" y="1664280"/>
            <a:ext cx="48549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Для пользователей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 5"/>
          <p:cNvSpPr/>
          <p:nvPr/>
        </p:nvSpPr>
        <p:spPr>
          <a:xfrm>
            <a:off x="822960" y="2148840"/>
            <a:ext cx="4854960" cy="356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spcAft>
                <a:spcPts val="799"/>
              </a:spcAft>
              <a:tabLst>
                <a:tab pos="0" algn="l"/>
              </a:tabLst>
            </a:pPr>
            <a:r>
              <a:rPr lang="en-US" sz="1300" b="0" u="none" strike="noStrike">
                <a:solidFill>
                  <a:srgbClr val="26262E"/>
                </a:solidFill>
                <a:effectLst/>
                <a:uFillTx/>
                <a:latin typeface="Calibri"/>
                <a:ea typeface="Calibri"/>
              </a:rPr>
              <a:t>1.  Взять bpmsoft-intellisense-1.2.1.vsix</a:t>
            </a:r>
            <a:endParaRPr lang="ru-RU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799"/>
              </a:spcAft>
              <a:tabLst>
                <a:tab pos="0" algn="l"/>
              </a:tabLst>
            </a:pPr>
            <a:r>
              <a:rPr lang="en-US" sz="1300" b="0" u="none" strike="noStrike">
                <a:solidFill>
                  <a:srgbClr val="26262E"/>
                </a:solidFill>
                <a:effectLst/>
                <a:uFillTx/>
                <a:latin typeface="Calibri"/>
                <a:ea typeface="Calibri"/>
              </a:rPr>
              <a:t>2.  VS Code / Cursor → Extensions → «Install from VSIX…»</a:t>
            </a:r>
            <a:endParaRPr lang="ru-RU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1400"/>
              </a:spcAft>
              <a:tabLst>
                <a:tab pos="0" algn="l"/>
              </a:tabLst>
            </a:pPr>
            <a:r>
              <a:rPr lang="en-US" sz="1300" b="0" u="none" strike="noStrike">
                <a:solidFill>
                  <a:srgbClr val="26262E"/>
                </a:solidFill>
                <a:effectLst/>
                <a:uFillTx/>
                <a:latin typeface="Calibri"/>
                <a:ea typeface="Calibri"/>
              </a:rPr>
              <a:t>3.  Открыть папку проекта BPMSoft — индексация стартует сама</a:t>
            </a:r>
            <a:endParaRPr lang="ru-RU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5A6472"/>
                </a:solidFill>
                <a:effectLst/>
                <a:uFillTx/>
                <a:latin typeface="Calibri"/>
                <a:ea typeface="Calibri"/>
              </a:rPr>
              <a:t>Команда «BPMSoft: Rebuild Index» — полная переиндексация вручную, статус в строке состояния.</a:t>
            </a:r>
            <a:endParaRPr lang="ru-RU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Shape 6"/>
          <p:cNvSpPr/>
          <p:nvPr/>
        </p:nvSpPr>
        <p:spPr>
          <a:xfrm>
            <a:off x="6236280" y="1463040"/>
            <a:ext cx="5403600" cy="4480200"/>
          </a:xfrm>
          <a:prstGeom prst="roundRect">
            <a:avLst>
              <a:gd name="adj" fmla="val 1633"/>
            </a:avLst>
          </a:prstGeom>
          <a:solidFill>
            <a:srgbClr val="EEF3FB"/>
          </a:solidFill>
          <a:ln w="12700">
            <a:solidFill>
              <a:srgbClr val="D5DE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 7"/>
          <p:cNvSpPr/>
          <p:nvPr/>
        </p:nvSpPr>
        <p:spPr>
          <a:xfrm>
            <a:off x="6510600" y="1664280"/>
            <a:ext cx="48549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Для контрибьюторов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Text 8"/>
          <p:cNvSpPr/>
          <p:nvPr/>
        </p:nvSpPr>
        <p:spPr>
          <a:xfrm>
            <a:off x="6510600" y="2148840"/>
            <a:ext cx="4854960" cy="356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spcAft>
                <a:spcPts val="799"/>
              </a:spcAft>
              <a:tabLst>
                <a:tab pos="0" algn="l"/>
              </a:tabLst>
            </a:pPr>
            <a:r>
              <a:rPr lang="en-US" sz="1200" b="0" u="none" strike="noStrike">
                <a:solidFill>
                  <a:srgbClr val="26262E"/>
                </a:solidFill>
                <a:effectLst/>
                <a:uFillTx/>
                <a:latin typeface="Courier New"/>
                <a:ea typeface="Courier New"/>
              </a:rPr>
              <a:t>npm install &amp;&amp; npm run compile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799"/>
              </a:spcAft>
              <a:tabLst>
                <a:tab pos="0" algn="l"/>
              </a:tabLst>
            </a:pPr>
            <a:r>
              <a:rPr lang="en-US" sz="1200" b="0" u="none" strike="noStrike">
                <a:solidFill>
                  <a:srgbClr val="26262E"/>
                </a:solidFill>
                <a:effectLst/>
                <a:uFillTx/>
                <a:latin typeface="Courier New"/>
                <a:ea typeface="Courier New"/>
              </a:rPr>
              <a:t>npm run watch — инкрементальная сборка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799"/>
              </a:spcAft>
              <a:tabLst>
                <a:tab pos="0" algn="l"/>
              </a:tabLst>
            </a:pPr>
            <a:r>
              <a:rPr lang="en-US" sz="1300" b="0" u="none" strike="noStrike">
                <a:solidFill>
                  <a:srgbClr val="26262E"/>
                </a:solidFill>
                <a:effectLst/>
                <a:uFillTx/>
                <a:latin typeface="Calibri"/>
                <a:ea typeface="Calibri"/>
              </a:rPr>
              <a:t>F5 — Extension Development Host на реальном проекте</a:t>
            </a:r>
            <a:endParaRPr lang="ru-RU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799"/>
              </a:spcAft>
              <a:tabLst>
                <a:tab pos="0" algn="l"/>
              </a:tabLst>
            </a:pPr>
            <a:r>
              <a:rPr lang="en-US" sz="1200" b="0" u="none" strike="noStrike">
                <a:solidFill>
                  <a:srgbClr val="26262E"/>
                </a:solidFill>
                <a:effectLst/>
                <a:uFillTx/>
                <a:latin typeface="Courier New"/>
                <a:ea typeface="Courier New"/>
              </a:rPr>
              <a:t>npm run smoke — смоук-тесты на живой конфигурации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1400"/>
              </a:spcAft>
              <a:tabLst>
                <a:tab pos="0" algn="l"/>
              </a:tabLst>
            </a:pPr>
            <a:r>
              <a:rPr lang="en-US" sz="1200" b="0" u="none" strike="noStrike">
                <a:solidFill>
                  <a:srgbClr val="26262E"/>
                </a:solidFill>
                <a:effectLst/>
                <a:uFillTx/>
                <a:latin typeface="Courier New"/>
                <a:ea typeface="Courier New"/>
              </a:rPr>
              <a:t>npm run package — сборка VSIX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5A6472"/>
                </a:solidFill>
                <a:effectLst/>
                <a:uFillTx/>
                <a:latin typeface="Calibri"/>
                <a:ea typeface="Calibri"/>
              </a:rPr>
              <a:t>TypeScript, ~40 модулей: index / parse / providers / stubs / dotnet.</a:t>
            </a:r>
            <a:endParaRPr lang="ru-RU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Shape 0"/>
          <p:cNvSpPr/>
          <p:nvPr/>
        </p:nvSpPr>
        <p:spPr>
          <a:xfrm>
            <a:off x="-2194560" y="3840480"/>
            <a:ext cx="5486040" cy="5486040"/>
          </a:xfrm>
          <a:prstGeom prst="ellipse">
            <a:avLst/>
          </a:prstGeom>
          <a:solidFill>
            <a:srgbClr val="CADCFC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Text 1"/>
          <p:cNvSpPr/>
          <p:nvPr/>
        </p:nvSpPr>
        <p:spPr>
          <a:xfrm>
            <a:off x="822960" y="640080"/>
            <a:ext cx="10515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300" strike="noStrike">
                <a:solidFill>
                  <a:srgbClr val="9FB4E0"/>
                </a:solidFill>
                <a:effectLst/>
                <a:uFillTx/>
                <a:latin typeface="Calibri"/>
                <a:ea typeface="Calibri"/>
              </a:rPr>
              <a:t>ИТОГ</a:t>
            </a:r>
            <a:endParaRPr lang="ru-RU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1" name="Text 2"/>
          <p:cNvSpPr/>
          <p:nvPr/>
        </p:nvSpPr>
        <p:spPr>
          <a:xfrm>
            <a:off x="822960" y="96012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6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Что это даёт команде</a:t>
            </a:r>
            <a:endParaRPr lang="ru-RU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2" name="Shape 3"/>
          <p:cNvSpPr/>
          <p:nvPr/>
        </p:nvSpPr>
        <p:spPr>
          <a:xfrm>
            <a:off x="868680" y="2002680"/>
            <a:ext cx="456840" cy="456840"/>
          </a:xfrm>
          <a:prstGeom prst="ellipse">
            <a:avLst/>
          </a:prstGeom>
          <a:solidFill>
            <a:srgbClr val="CADC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Text 4"/>
          <p:cNvSpPr/>
          <p:nvPr/>
        </p:nvSpPr>
        <p:spPr>
          <a:xfrm>
            <a:off x="868680" y="200268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1</a:t>
            </a:r>
            <a:endParaRPr lang="ru-RU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4" name="Text 5"/>
          <p:cNvSpPr/>
          <p:nvPr/>
        </p:nvSpPr>
        <p:spPr>
          <a:xfrm>
            <a:off x="1554480" y="1965960"/>
            <a:ext cx="39315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5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Ошибки — до рантайма</a:t>
            </a:r>
            <a:endParaRPr lang="ru-RU" sz="16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5" name="Text 6"/>
          <p:cNvSpPr/>
          <p:nvPr/>
        </p:nvSpPr>
        <p:spPr>
          <a:xfrm>
            <a:off x="5623560" y="1965960"/>
            <a:ext cx="5943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Опечатки в методах, атрибутах, сообщениях и колонках видны прямо в редакторе, а не в браузере.</a:t>
            </a:r>
            <a:endParaRPr lang="ru-RU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6" name="Shape 7"/>
          <p:cNvSpPr/>
          <p:nvPr/>
        </p:nvSpPr>
        <p:spPr>
          <a:xfrm>
            <a:off x="868680" y="3026520"/>
            <a:ext cx="456840" cy="456840"/>
          </a:xfrm>
          <a:prstGeom prst="ellipse">
            <a:avLst/>
          </a:prstGeom>
          <a:solidFill>
            <a:srgbClr val="CADC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Text 8"/>
          <p:cNvSpPr/>
          <p:nvPr/>
        </p:nvSpPr>
        <p:spPr>
          <a:xfrm>
            <a:off x="868680" y="302652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2</a:t>
            </a:r>
            <a:endParaRPr lang="ru-RU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8" name="Text 9"/>
          <p:cNvSpPr/>
          <p:nvPr/>
        </p:nvSpPr>
        <p:spPr>
          <a:xfrm>
            <a:off x="1554480" y="2990160"/>
            <a:ext cx="39315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5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Навигация за секунды</a:t>
            </a:r>
            <a:endParaRPr lang="ru-RU" sz="16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9" name="Text 10"/>
          <p:cNvSpPr/>
          <p:nvPr/>
        </p:nvSpPr>
        <p:spPr>
          <a:xfrm>
            <a:off x="5623560" y="2990160"/>
            <a:ext cx="5943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F12 по иерархии пакетов, миксинам и платформе — вместо поиска по всем файлам.</a:t>
            </a:r>
            <a:endParaRPr lang="ru-RU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0" name="Shape 11"/>
          <p:cNvSpPr/>
          <p:nvPr/>
        </p:nvSpPr>
        <p:spPr>
          <a:xfrm>
            <a:off x="868680" y="4050720"/>
            <a:ext cx="456840" cy="456840"/>
          </a:xfrm>
          <a:prstGeom prst="ellipse">
            <a:avLst/>
          </a:prstGeom>
          <a:solidFill>
            <a:srgbClr val="CADC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Text 12"/>
          <p:cNvSpPr/>
          <p:nvPr/>
        </p:nvSpPr>
        <p:spPr>
          <a:xfrm>
            <a:off x="868680" y="405072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3</a:t>
            </a:r>
            <a:endParaRPr lang="ru-RU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2" name="Text 13"/>
          <p:cNvSpPr/>
          <p:nvPr/>
        </p:nvSpPr>
        <p:spPr>
          <a:xfrm>
            <a:off x="1554480" y="4014360"/>
            <a:ext cx="39315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5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Единый стиль без споров</a:t>
            </a:r>
            <a:endParaRPr lang="ru-RU" sz="16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3" name="Text 14"/>
          <p:cNvSpPr/>
          <p:nvPr/>
        </p:nvSpPr>
        <p:spPr>
          <a:xfrm>
            <a:off x="5623560" y="4014360"/>
            <a:ext cx="5943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Одинаковые правила JS и C# с автоисправлениями — ревью про логику, а не про скобки.</a:t>
            </a:r>
            <a:endParaRPr lang="ru-RU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4" name="Shape 15"/>
          <p:cNvSpPr/>
          <p:nvPr/>
        </p:nvSpPr>
        <p:spPr>
          <a:xfrm>
            <a:off x="868680" y="5074920"/>
            <a:ext cx="456840" cy="456840"/>
          </a:xfrm>
          <a:prstGeom prst="ellipse">
            <a:avLst/>
          </a:prstGeom>
          <a:solidFill>
            <a:srgbClr val="CADC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Text 16"/>
          <p:cNvSpPr/>
          <p:nvPr/>
        </p:nvSpPr>
        <p:spPr>
          <a:xfrm>
            <a:off x="868680" y="507492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4</a:t>
            </a:r>
            <a:endParaRPr lang="ru-RU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6" name="Text 17"/>
          <p:cNvSpPr/>
          <p:nvPr/>
        </p:nvSpPr>
        <p:spPr>
          <a:xfrm>
            <a:off x="1554480" y="5038200"/>
            <a:ext cx="39315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5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Быстрый онбординг</a:t>
            </a:r>
            <a:endParaRPr lang="ru-RU" sz="16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7" name="Text 18"/>
          <p:cNvSpPr/>
          <p:nvPr/>
        </p:nvSpPr>
        <p:spPr>
          <a:xfrm>
            <a:off x="5623560" y="5038200"/>
            <a:ext cx="5943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Подсказки показывают, что доступно в схеме, — не нужно заранее знать родительские пакеты.</a:t>
            </a:r>
            <a:endParaRPr lang="ru-RU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8" name="Text 19"/>
          <p:cNvSpPr/>
          <p:nvPr/>
        </p:nvSpPr>
        <p:spPr>
          <a:xfrm>
            <a:off x="822960" y="6263640"/>
            <a:ext cx="10515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9FB4E0"/>
                </a:solidFill>
                <a:effectLst/>
                <a:uFillTx/>
                <a:latin typeface="Calibri"/>
                <a:ea typeface="Calibri"/>
              </a:rPr>
              <a:t>BPMSoft IntelliSense · v1.2.1 · установка из VSIX за минуту · вопросы — прямо сейчас</a:t>
            </a:r>
            <a:endParaRPr lang="ru-RU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</TotalTime>
  <Application>LibreOffice/26.2.2.2$MacOSX_AARCH64 LibreOffice_project/1f77d10d6938fd34972958f64b2bcfa54f8b1ba5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2026-08-24T08:08:20Z</dcterms:created>
  <dc:creator>BPMSoft IntelliSense</dc:creator>
  <dc:description/>
  <dc:language>ru-RU</dc:language>
  <cp:lastModifiedBy/>
  <dcterms:modified xsi:type="dcterms:W3CDTF">2026-08-24T12:29:36Z</dcterms:modified>
  <cp:revision>2</cp:revision>
  <dc:subject>PptxGenJS Presentation</dc:subject>
  <dc:title>BPMSoft IntelliSense — расширение VS Code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13</vt:i4>
  </property>
  <property fmtid="{D5CDD505-2E9C-101B-9397-08002B2CF9AE}" pid="3" name="PresentationFormat">
    <vt:lpwstr>On-screen Show (16:9)</vt:lpwstr>
  </property>
  <property fmtid="{D5CDD505-2E9C-101B-9397-08002B2CF9AE}" pid="4" name="Slides">
    <vt:i4>13</vt:i4>
  </property>
</Properties>
</file>